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A8D493-F50E-423D-A766-48FF514E3592}" v="3" dt="2026-07-09T17:09:43.37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979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E16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4852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E16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4852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E16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E16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055" y="661581"/>
            <a:ext cx="471926" cy="393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2785" y="3354824"/>
            <a:ext cx="409002" cy="3622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8516" y="8694063"/>
            <a:ext cx="361810" cy="2204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225917" y="10410807"/>
            <a:ext cx="0" cy="882015"/>
          </a:xfrm>
          <a:custGeom>
            <a:avLst/>
            <a:gdLst/>
            <a:ahLst/>
            <a:cxnLst/>
            <a:rect l="l" t="t" r="r" b="b"/>
            <a:pathLst>
              <a:path h="882015">
                <a:moveTo>
                  <a:pt x="0" y="881997"/>
                </a:moveTo>
                <a:lnTo>
                  <a:pt x="0" y="0"/>
                </a:lnTo>
              </a:path>
            </a:pathLst>
          </a:custGeom>
          <a:ln w="39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225917" y="7749064"/>
            <a:ext cx="0" cy="2268220"/>
          </a:xfrm>
          <a:custGeom>
            <a:avLst/>
            <a:gdLst/>
            <a:ahLst/>
            <a:cxnLst/>
            <a:rect l="l" t="t" r="r" b="b"/>
            <a:pathLst>
              <a:path h="2268220">
                <a:moveTo>
                  <a:pt x="0" y="2267994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225917" y="5071571"/>
            <a:ext cx="0" cy="2284095"/>
          </a:xfrm>
          <a:custGeom>
            <a:avLst/>
            <a:gdLst/>
            <a:ahLst/>
            <a:cxnLst/>
            <a:rect l="l" t="t" r="r" b="b"/>
            <a:pathLst>
              <a:path h="2284095">
                <a:moveTo>
                  <a:pt x="0" y="2283744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225917" y="2409827"/>
            <a:ext cx="0" cy="2268220"/>
          </a:xfrm>
          <a:custGeom>
            <a:avLst/>
            <a:gdLst/>
            <a:ahLst/>
            <a:cxnLst/>
            <a:rect l="l" t="t" r="r" b="b"/>
            <a:pathLst>
              <a:path h="2268220">
                <a:moveTo>
                  <a:pt x="0" y="2267994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225917" y="47333"/>
            <a:ext cx="0" cy="1969135"/>
          </a:xfrm>
          <a:custGeom>
            <a:avLst/>
            <a:gdLst/>
            <a:ahLst/>
            <a:cxnLst/>
            <a:rect l="l" t="t" r="r" b="b"/>
            <a:pathLst>
              <a:path h="1969135">
                <a:moveTo>
                  <a:pt x="0" y="1968745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9699" y="987510"/>
            <a:ext cx="5787390" cy="70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E16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8695" y="4172938"/>
            <a:ext cx="8512175" cy="2496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4852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12.jpg"/><Relationship Id="rId4" Type="http://schemas.openxmlformats.org/officeDocument/2006/relationships/image" Target="../media/image6.jp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3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7" Type="http://schemas.openxmlformats.org/officeDocument/2006/relationships/image" Target="../media/image44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3" Type="http://schemas.openxmlformats.org/officeDocument/2006/relationships/image" Target="../media/image46.jpg"/><Relationship Id="rId7" Type="http://schemas.openxmlformats.org/officeDocument/2006/relationships/image" Target="../media/image50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g"/><Relationship Id="rId5" Type="http://schemas.openxmlformats.org/officeDocument/2006/relationships/image" Target="../media/image48.jpg"/><Relationship Id="rId4" Type="http://schemas.openxmlformats.org/officeDocument/2006/relationships/image" Target="../media/image47.jpg"/><Relationship Id="rId9" Type="http://schemas.openxmlformats.org/officeDocument/2006/relationships/image" Target="../media/image5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3" Type="http://schemas.openxmlformats.org/officeDocument/2006/relationships/image" Target="../media/image58.png"/><Relationship Id="rId7" Type="http://schemas.openxmlformats.org/officeDocument/2006/relationships/image" Target="../media/image62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10" Type="http://schemas.openxmlformats.org/officeDocument/2006/relationships/hyperlink" Target="https://www.linkedin.com/feed/" TargetMode="External"/><Relationship Id="rId4" Type="http://schemas.openxmlformats.org/officeDocument/2006/relationships/image" Target="../media/image59.jpg"/><Relationship Id="rId9" Type="http://schemas.openxmlformats.org/officeDocument/2006/relationships/hyperlink" Target="mailto:bariabdul3333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9909" y="3449329"/>
            <a:ext cx="2611323" cy="1244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4158" y="3717076"/>
            <a:ext cx="1447239" cy="9764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4556" y="3559577"/>
            <a:ext cx="1447239" cy="8347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94720" y="3575327"/>
            <a:ext cx="1132622" cy="8189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10495" y="3575327"/>
            <a:ext cx="786543" cy="8032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75694" y="3717076"/>
            <a:ext cx="1384316" cy="6772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670128" y="3528078"/>
            <a:ext cx="1541624" cy="11654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321867" y="3732827"/>
            <a:ext cx="204501" cy="645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605022" y="3717076"/>
            <a:ext cx="550580" cy="677248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5263423" y="3224003"/>
            <a:ext cx="21209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-50" dirty="0">
                <a:solidFill>
                  <a:srgbClr val="0F1628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84290" y="4960436"/>
            <a:ext cx="1074166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60" dirty="0">
                <a:solidFill>
                  <a:srgbClr val="667083"/>
                </a:solidFill>
                <a:latin typeface="Arial"/>
                <a:cs typeface="Arial"/>
              </a:rPr>
              <a:t>Extracting</a:t>
            </a:r>
            <a:r>
              <a:rPr sz="3000" spc="229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667083"/>
                </a:solidFill>
                <a:latin typeface="Arial"/>
                <a:cs typeface="Arial"/>
              </a:rPr>
              <a:t>Insights</a:t>
            </a:r>
            <a:r>
              <a:rPr sz="3000" spc="30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3000" spc="135" dirty="0">
                <a:solidFill>
                  <a:srgbClr val="667083"/>
                </a:solidFill>
                <a:latin typeface="Arial"/>
                <a:cs typeface="Arial"/>
              </a:rPr>
              <a:t>from</a:t>
            </a:r>
            <a:r>
              <a:rPr sz="3000" spc="19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667083"/>
                </a:solidFill>
                <a:latin typeface="Arial"/>
                <a:cs typeface="Arial"/>
              </a:rPr>
              <a:t>Order,</a:t>
            </a:r>
            <a:r>
              <a:rPr sz="3000" spc="250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667083"/>
                </a:solidFill>
                <a:latin typeface="Arial"/>
                <a:cs typeface="Arial"/>
              </a:rPr>
              <a:t>Delivery,</a:t>
            </a:r>
            <a:r>
              <a:rPr sz="3000" spc="310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667083"/>
                </a:solidFill>
                <a:latin typeface="Arial"/>
                <a:cs typeface="Arial"/>
              </a:rPr>
              <a:t>and</a:t>
            </a:r>
            <a:r>
              <a:rPr sz="3000" spc="220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667083"/>
                </a:solidFill>
                <a:latin typeface="Arial"/>
                <a:cs typeface="Arial"/>
              </a:rPr>
              <a:t>Campaign</a:t>
            </a:r>
            <a:r>
              <a:rPr sz="3000" spc="385" dirty="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sz="3000" spc="-20" dirty="0">
                <a:solidFill>
                  <a:srgbClr val="667083"/>
                </a:solidFill>
                <a:latin typeface="Arial"/>
                <a:cs typeface="Arial"/>
              </a:rPr>
              <a:t>Data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3087" y="6650544"/>
            <a:ext cx="5200015" cy="1102360"/>
          </a:xfrm>
          <a:prstGeom prst="rect">
            <a:avLst/>
          </a:prstGeom>
        </p:spPr>
        <p:txBody>
          <a:bodyPr vert="horz" wrap="square" lIns="0" tIns="2203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35"/>
              </a:spcBef>
            </a:pPr>
            <a:r>
              <a:rPr sz="2350" b="1" spc="70" dirty="0">
                <a:solidFill>
                  <a:srgbClr val="313D4F"/>
                </a:solidFill>
                <a:latin typeface="Arial"/>
                <a:cs typeface="Arial"/>
              </a:rPr>
              <a:t>Prepared</a:t>
            </a:r>
            <a:r>
              <a:rPr sz="2350" b="1" spc="180" dirty="0">
                <a:solidFill>
                  <a:srgbClr val="313D4F"/>
                </a:solidFill>
                <a:latin typeface="Arial"/>
                <a:cs typeface="Arial"/>
              </a:rPr>
              <a:t> </a:t>
            </a:r>
            <a:r>
              <a:rPr sz="2450" b="1" spc="70" dirty="0">
                <a:solidFill>
                  <a:srgbClr val="313D4F"/>
                </a:solidFill>
                <a:latin typeface="Arial"/>
                <a:cs typeface="Arial"/>
              </a:rPr>
              <a:t>by:</a:t>
            </a:r>
            <a:r>
              <a:rPr sz="2450" b="1" spc="-70" dirty="0">
                <a:solidFill>
                  <a:srgbClr val="313D4F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313D4F"/>
                </a:solidFill>
                <a:latin typeface="Arial"/>
                <a:cs typeface="Arial"/>
              </a:rPr>
              <a:t>S</a:t>
            </a:r>
            <a:r>
              <a:rPr lang="en-IN" sz="2350" b="1" dirty="0" err="1">
                <a:solidFill>
                  <a:srgbClr val="313D4F"/>
                </a:solidFill>
                <a:latin typeface="Arial"/>
                <a:cs typeface="Arial"/>
              </a:rPr>
              <a:t>yed</a:t>
            </a:r>
            <a:r>
              <a:rPr lang="en-IN" sz="2350" b="1" dirty="0">
                <a:solidFill>
                  <a:srgbClr val="313D4F"/>
                </a:solidFill>
                <a:latin typeface="Arial"/>
                <a:cs typeface="Arial"/>
              </a:rPr>
              <a:t> Abdul Bari</a:t>
            </a:r>
            <a:endParaRPr sz="2350" dirty="0">
              <a:latin typeface="Arial"/>
              <a:cs typeface="Arial"/>
            </a:endParaRPr>
          </a:p>
          <a:p>
            <a:pPr marL="31115" algn="ctr">
              <a:lnSpc>
                <a:spcPct val="100000"/>
              </a:lnSpc>
              <a:spcBef>
                <a:spcPts val="1375"/>
              </a:spcBef>
            </a:pPr>
            <a:r>
              <a:rPr lang="en-IN" sz="2100" b="1" spc="165" dirty="0">
                <a:solidFill>
                  <a:srgbClr val="667083"/>
                </a:solidFill>
                <a:latin typeface="Times New Roman"/>
                <a:cs typeface="Times New Roman"/>
              </a:rPr>
              <a:t>08</a:t>
            </a:r>
            <a:r>
              <a:rPr sz="2100" b="1" spc="165" dirty="0">
                <a:solidFill>
                  <a:srgbClr val="667083"/>
                </a:solidFill>
                <a:latin typeface="Times New Roman"/>
                <a:cs typeface="Times New Roman"/>
              </a:rPr>
              <a:t>/</a:t>
            </a:r>
            <a:r>
              <a:rPr lang="en-IN" sz="2100" b="1" spc="165" dirty="0">
                <a:solidFill>
                  <a:srgbClr val="667083"/>
                </a:solidFill>
                <a:latin typeface="Times New Roman"/>
                <a:cs typeface="Times New Roman"/>
              </a:rPr>
              <a:t>07</a:t>
            </a:r>
            <a:r>
              <a:rPr sz="2100" b="1" spc="165" dirty="0">
                <a:solidFill>
                  <a:srgbClr val="667083"/>
                </a:solidFill>
                <a:latin typeface="Times New Roman"/>
                <a:cs typeface="Times New Roman"/>
              </a:rPr>
              <a:t>/2026</a:t>
            </a:r>
            <a:endParaRPr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7218" y="1228580"/>
            <a:ext cx="1211276" cy="535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8224" y="3228828"/>
            <a:ext cx="8683439" cy="634723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15"/>
              </a:spcBef>
            </a:pPr>
            <a:r>
              <a:rPr spc="409" dirty="0"/>
              <a:t>About</a:t>
            </a:r>
            <a:r>
              <a:rPr spc="204" dirty="0"/>
              <a:t> </a:t>
            </a:r>
            <a:r>
              <a:rPr spc="375" dirty="0">
                <a:solidFill>
                  <a:srgbClr val="ED801F"/>
                </a:solidFill>
              </a:rPr>
              <a:t>Swi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695" y="2814508"/>
            <a:ext cx="4639310" cy="103631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23545" indent="-410845">
              <a:lnSpc>
                <a:spcPct val="100000"/>
              </a:lnSpc>
              <a:spcBef>
                <a:spcPts val="120"/>
              </a:spcBef>
              <a:buClr>
                <a:srgbClr val="ED801F"/>
              </a:buClr>
              <a:buFont typeface="Arial"/>
              <a:buChar char="•"/>
              <a:tabLst>
                <a:tab pos="423545" algn="l"/>
              </a:tabLst>
            </a:pPr>
            <a:r>
              <a:rPr sz="2150" b="1" dirty="0">
                <a:solidFill>
                  <a:srgbClr val="485262"/>
                </a:solidFill>
                <a:latin typeface="Arial"/>
                <a:cs typeface="Arial"/>
              </a:rPr>
              <a:t>Founded:</a:t>
            </a:r>
            <a:r>
              <a:rPr sz="2150" b="1" spc="4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100" spc="30" dirty="0">
                <a:solidFill>
                  <a:srgbClr val="485262"/>
                </a:solidFill>
                <a:latin typeface="Arial"/>
                <a:cs typeface="Arial"/>
              </a:rPr>
              <a:t>2014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ED801F"/>
              </a:buClr>
              <a:buFont typeface="Arial"/>
              <a:buChar char="•"/>
            </a:pPr>
            <a:endParaRPr sz="2150">
              <a:latin typeface="Arial"/>
              <a:cs typeface="Arial"/>
            </a:endParaRPr>
          </a:p>
          <a:p>
            <a:pPr marL="423545" indent="-410845">
              <a:lnSpc>
                <a:spcPct val="100000"/>
              </a:lnSpc>
              <a:buClr>
                <a:srgbClr val="ED801F"/>
              </a:buClr>
              <a:buFont typeface="Arial"/>
              <a:buChar char="•"/>
              <a:tabLst>
                <a:tab pos="423545" algn="l"/>
              </a:tabLst>
            </a:pPr>
            <a:r>
              <a:rPr sz="2150" b="1" dirty="0">
                <a:solidFill>
                  <a:srgbClr val="485262"/>
                </a:solidFill>
                <a:latin typeface="Arial"/>
                <a:cs typeface="Arial"/>
              </a:rPr>
              <a:t>Headquarters:</a:t>
            </a:r>
            <a:r>
              <a:rPr sz="2150" b="1" spc="-10" dirty="0">
                <a:solidFill>
                  <a:srgbClr val="485262"/>
                </a:solidFill>
                <a:latin typeface="Arial"/>
                <a:cs typeface="Arial"/>
              </a:rPr>
              <a:t> 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Bangalore,</a:t>
            </a:r>
            <a:r>
              <a:rPr sz="2250" spc="4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485262"/>
                </a:solidFill>
                <a:latin typeface="Arial"/>
                <a:cs typeface="Arial"/>
              </a:rPr>
              <a:t>India</a:t>
            </a:r>
            <a:endParaRPr sz="22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24815" indent="-412115">
              <a:lnSpc>
                <a:spcPct val="100000"/>
              </a:lnSpc>
              <a:spcBef>
                <a:spcPts val="110"/>
              </a:spcBef>
              <a:buClr>
                <a:srgbClr val="ED801F"/>
              </a:buClr>
              <a:buFont typeface="Arial"/>
              <a:buChar char="•"/>
              <a:tabLst>
                <a:tab pos="424815" algn="l"/>
              </a:tabLst>
            </a:pPr>
            <a:r>
              <a:rPr sz="2150" b="1" dirty="0">
                <a:latin typeface="Arial"/>
                <a:cs typeface="Arial"/>
              </a:rPr>
              <a:t>Industry:</a:t>
            </a:r>
            <a:r>
              <a:rPr sz="2150" b="1" spc="145" dirty="0">
                <a:latin typeface="Arial"/>
                <a:cs typeface="Arial"/>
              </a:rPr>
              <a:t> </a:t>
            </a:r>
            <a:r>
              <a:rPr dirty="0"/>
              <a:t>Online</a:t>
            </a:r>
            <a:r>
              <a:rPr spc="215" dirty="0"/>
              <a:t> </a:t>
            </a:r>
            <a:r>
              <a:rPr dirty="0"/>
              <a:t>Food</a:t>
            </a:r>
            <a:r>
              <a:rPr spc="105" dirty="0"/>
              <a:t> </a:t>
            </a:r>
            <a:r>
              <a:rPr spc="50" dirty="0"/>
              <a:t>Delivery</a:t>
            </a:r>
            <a:r>
              <a:rPr spc="280" dirty="0"/>
              <a:t> </a:t>
            </a:r>
            <a:r>
              <a:rPr sz="2050" spc="120" dirty="0"/>
              <a:t>&amp;</a:t>
            </a:r>
            <a:r>
              <a:rPr sz="2050" spc="250" dirty="0"/>
              <a:t> </a:t>
            </a:r>
            <a:r>
              <a:rPr dirty="0"/>
              <a:t>Quick</a:t>
            </a:r>
            <a:r>
              <a:rPr spc="260" dirty="0"/>
              <a:t> </a:t>
            </a:r>
            <a:r>
              <a:rPr spc="40" dirty="0"/>
              <a:t>Commerce</a:t>
            </a:r>
            <a:endParaRPr sz="2050">
              <a:latin typeface="Arial"/>
              <a:cs typeface="Arial"/>
            </a:endParaRPr>
          </a:p>
          <a:p>
            <a:pPr marL="31115" marR="5080" indent="-1905">
              <a:lnSpc>
                <a:spcPct val="131700"/>
              </a:lnSpc>
              <a:spcBef>
                <a:spcPts val="2525"/>
              </a:spcBef>
            </a:pPr>
            <a:r>
              <a:rPr spc="70" dirty="0"/>
              <a:t>Swiggy</a:t>
            </a:r>
            <a:r>
              <a:rPr spc="165" dirty="0"/>
              <a:t> </a:t>
            </a:r>
            <a:r>
              <a:rPr dirty="0"/>
              <a:t>is</a:t>
            </a:r>
            <a:r>
              <a:rPr spc="114" dirty="0"/>
              <a:t> </a:t>
            </a:r>
            <a:r>
              <a:rPr spc="70" dirty="0"/>
              <a:t>one</a:t>
            </a:r>
            <a:r>
              <a:rPr spc="155" dirty="0"/>
              <a:t> </a:t>
            </a:r>
            <a:r>
              <a:rPr spc="50" dirty="0"/>
              <a:t>of</a:t>
            </a:r>
            <a:r>
              <a:rPr spc="235" dirty="0"/>
              <a:t> </a:t>
            </a:r>
            <a:r>
              <a:rPr spc="60" dirty="0"/>
              <a:t>India's</a:t>
            </a:r>
            <a:r>
              <a:rPr spc="155" dirty="0"/>
              <a:t> </a:t>
            </a:r>
            <a:r>
              <a:rPr dirty="0"/>
              <a:t>leading</a:t>
            </a:r>
            <a:r>
              <a:rPr spc="180" dirty="0"/>
              <a:t> </a:t>
            </a:r>
            <a:r>
              <a:rPr dirty="0"/>
              <a:t>online</a:t>
            </a:r>
            <a:r>
              <a:rPr spc="165" dirty="0"/>
              <a:t> </a:t>
            </a:r>
            <a:r>
              <a:rPr spc="105" dirty="0"/>
              <a:t>food</a:t>
            </a:r>
            <a:r>
              <a:rPr spc="55" dirty="0"/>
              <a:t> </a:t>
            </a:r>
            <a:r>
              <a:rPr spc="65" dirty="0"/>
              <a:t>delivery</a:t>
            </a:r>
            <a:r>
              <a:rPr spc="140" dirty="0"/>
              <a:t> </a:t>
            </a:r>
            <a:r>
              <a:rPr spc="50" dirty="0"/>
              <a:t>platforms </a:t>
            </a:r>
            <a:r>
              <a:rPr spc="80" dirty="0"/>
              <a:t>connecting customers</a:t>
            </a:r>
            <a:r>
              <a:rPr spc="340" dirty="0"/>
              <a:t> </a:t>
            </a:r>
            <a:r>
              <a:rPr spc="85" dirty="0"/>
              <a:t>with</a:t>
            </a:r>
            <a:r>
              <a:rPr dirty="0"/>
              <a:t> </a:t>
            </a:r>
            <a:r>
              <a:rPr spc="65" dirty="0"/>
              <a:t>nearby</a:t>
            </a:r>
            <a:r>
              <a:rPr spc="120" dirty="0"/>
              <a:t> </a:t>
            </a:r>
            <a:r>
              <a:rPr spc="70" dirty="0"/>
              <a:t>restaurants</a:t>
            </a:r>
            <a:r>
              <a:rPr spc="155" dirty="0"/>
              <a:t> </a:t>
            </a:r>
            <a:r>
              <a:rPr spc="90" dirty="0"/>
              <a:t>through</a:t>
            </a:r>
            <a:r>
              <a:rPr spc="95" dirty="0"/>
              <a:t> </a:t>
            </a:r>
            <a:r>
              <a:rPr spc="-50" dirty="0"/>
              <a:t>a </a:t>
            </a:r>
            <a:r>
              <a:rPr dirty="0"/>
              <a:t>mobile</a:t>
            </a:r>
            <a:r>
              <a:rPr spc="275" dirty="0"/>
              <a:t> </a:t>
            </a:r>
            <a:r>
              <a:rPr spc="55" dirty="0"/>
              <a:t>app</a:t>
            </a:r>
            <a:r>
              <a:rPr spc="114" dirty="0"/>
              <a:t> </a:t>
            </a:r>
            <a:r>
              <a:rPr spc="55" dirty="0"/>
              <a:t>and</a:t>
            </a:r>
            <a:r>
              <a:rPr spc="195" dirty="0"/>
              <a:t> </a:t>
            </a:r>
            <a:r>
              <a:rPr spc="75" dirty="0"/>
              <a:t>website,</a:t>
            </a:r>
            <a:r>
              <a:rPr spc="135" dirty="0"/>
              <a:t> </a:t>
            </a:r>
            <a:r>
              <a:rPr dirty="0"/>
              <a:t>enabling</a:t>
            </a:r>
            <a:r>
              <a:rPr spc="195" dirty="0"/>
              <a:t> </a:t>
            </a:r>
            <a:r>
              <a:rPr spc="85" dirty="0"/>
              <a:t>fast,</a:t>
            </a:r>
            <a:r>
              <a:rPr spc="75" dirty="0"/>
              <a:t> </a:t>
            </a:r>
            <a:r>
              <a:rPr dirty="0"/>
              <a:t>reliable,</a:t>
            </a:r>
            <a:r>
              <a:rPr spc="204" dirty="0"/>
              <a:t> </a:t>
            </a:r>
            <a:r>
              <a:rPr spc="55" dirty="0"/>
              <a:t>and</a:t>
            </a:r>
            <a:r>
              <a:rPr spc="100" dirty="0"/>
              <a:t> </a:t>
            </a:r>
            <a:r>
              <a:rPr spc="60" dirty="0"/>
              <a:t>convenient ordering.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8695" y="7212679"/>
            <a:ext cx="6348095" cy="2528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20"/>
              </a:spcBef>
            </a:pPr>
            <a:r>
              <a:rPr sz="2800" b="1" spc="90" dirty="0">
                <a:solidFill>
                  <a:srgbClr val="ED801F"/>
                </a:solidFill>
                <a:latin typeface="Arial"/>
                <a:cs typeface="Arial"/>
              </a:rPr>
              <a:t>Core</a:t>
            </a:r>
            <a:r>
              <a:rPr sz="2800" b="1" spc="-50" dirty="0">
                <a:solidFill>
                  <a:srgbClr val="ED801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ED801F"/>
                </a:solidFill>
                <a:latin typeface="Arial"/>
                <a:cs typeface="Arial"/>
              </a:rPr>
              <a:t>Services</a:t>
            </a:r>
            <a:endParaRPr sz="2800">
              <a:latin typeface="Arial"/>
              <a:cs typeface="Arial"/>
            </a:endParaRPr>
          </a:p>
          <a:p>
            <a:pPr marL="423545" indent="-410845">
              <a:lnSpc>
                <a:spcPct val="100000"/>
              </a:lnSpc>
              <a:spcBef>
                <a:spcPts val="2710"/>
              </a:spcBef>
              <a:buClr>
                <a:srgbClr val="ED801F"/>
              </a:buClr>
              <a:buFont typeface="Arial"/>
              <a:buChar char="•"/>
              <a:tabLst>
                <a:tab pos="423545" algn="l"/>
              </a:tabLst>
            </a:pPr>
            <a:r>
              <a:rPr sz="2150" b="1" dirty="0">
                <a:solidFill>
                  <a:srgbClr val="485262"/>
                </a:solidFill>
                <a:latin typeface="Arial"/>
                <a:cs typeface="Arial"/>
              </a:rPr>
              <a:t>Food</a:t>
            </a:r>
            <a:r>
              <a:rPr sz="2150" b="1" spc="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150" b="1" spc="80" dirty="0">
                <a:solidFill>
                  <a:srgbClr val="485262"/>
                </a:solidFill>
                <a:latin typeface="Arial"/>
                <a:cs typeface="Arial"/>
              </a:rPr>
              <a:t>Delivery:</a:t>
            </a:r>
            <a:r>
              <a:rPr sz="2150" b="1" spc="1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Order</a:t>
            </a:r>
            <a:r>
              <a:rPr sz="2250" spc="1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135" dirty="0">
                <a:solidFill>
                  <a:srgbClr val="485262"/>
                </a:solidFill>
                <a:latin typeface="Arial"/>
                <a:cs typeface="Arial"/>
              </a:rPr>
              <a:t>from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local</a:t>
            </a:r>
            <a:r>
              <a:rPr sz="2250" spc="-1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485262"/>
                </a:solidFill>
                <a:latin typeface="Arial"/>
                <a:cs typeface="Arial"/>
              </a:rPr>
              <a:t>restaurants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ED801F"/>
              </a:buClr>
              <a:buFont typeface="Arial"/>
              <a:buChar char="•"/>
            </a:pPr>
            <a:endParaRPr sz="2250">
              <a:latin typeface="Arial"/>
              <a:cs typeface="Arial"/>
            </a:endParaRPr>
          </a:p>
          <a:p>
            <a:pPr marL="424180" indent="-411480">
              <a:lnSpc>
                <a:spcPct val="100000"/>
              </a:lnSpc>
              <a:spcBef>
                <a:spcPts val="5"/>
              </a:spcBef>
              <a:buClr>
                <a:srgbClr val="ED801F"/>
              </a:buClr>
              <a:buFont typeface="Arial"/>
              <a:buChar char="•"/>
              <a:tabLst>
                <a:tab pos="424180" algn="l"/>
              </a:tabLst>
            </a:pPr>
            <a:r>
              <a:rPr sz="2150" b="1" dirty="0">
                <a:solidFill>
                  <a:srgbClr val="485262"/>
                </a:solidFill>
                <a:latin typeface="Arial"/>
                <a:cs typeface="Arial"/>
              </a:rPr>
              <a:t>lnstamart:</a:t>
            </a:r>
            <a:r>
              <a:rPr sz="2150" b="1" spc="1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485262"/>
                </a:solidFill>
                <a:latin typeface="Arial"/>
                <a:cs typeface="Arial"/>
              </a:rPr>
              <a:t>Instant</a:t>
            </a:r>
            <a:r>
              <a:rPr sz="2250" spc="1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95" dirty="0">
                <a:solidFill>
                  <a:srgbClr val="485262"/>
                </a:solidFill>
                <a:latin typeface="Arial"/>
                <a:cs typeface="Arial"/>
              </a:rPr>
              <a:t>grocery</a:t>
            </a:r>
            <a:r>
              <a:rPr sz="2250" spc="1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delivery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ED801F"/>
              </a:buClr>
              <a:buFont typeface="Arial"/>
              <a:buChar char="•"/>
            </a:pPr>
            <a:endParaRPr sz="2250">
              <a:latin typeface="Arial"/>
              <a:cs typeface="Arial"/>
            </a:endParaRPr>
          </a:p>
          <a:p>
            <a:pPr marL="426084" indent="-413384">
              <a:lnSpc>
                <a:spcPct val="100000"/>
              </a:lnSpc>
              <a:buClr>
                <a:srgbClr val="ED801F"/>
              </a:buClr>
              <a:buFont typeface="Arial"/>
              <a:buChar char="•"/>
              <a:tabLst>
                <a:tab pos="426084" algn="l"/>
              </a:tabLst>
            </a:pPr>
            <a:r>
              <a:rPr sz="2150" b="1" dirty="0">
                <a:solidFill>
                  <a:srgbClr val="485262"/>
                </a:solidFill>
                <a:latin typeface="Arial"/>
                <a:cs typeface="Arial"/>
              </a:rPr>
              <a:t>Swiggy</a:t>
            </a:r>
            <a:r>
              <a:rPr sz="2150" b="1" spc="26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150" b="1" spc="55" dirty="0">
                <a:solidFill>
                  <a:srgbClr val="485262"/>
                </a:solidFill>
                <a:latin typeface="Arial"/>
                <a:cs typeface="Arial"/>
              </a:rPr>
              <a:t>Genie:</a:t>
            </a:r>
            <a:r>
              <a:rPr sz="2150" b="1" spc="1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Pick-</a:t>
            </a:r>
            <a:r>
              <a:rPr sz="2250" spc="60" dirty="0">
                <a:solidFill>
                  <a:srgbClr val="485262"/>
                </a:solidFill>
                <a:latin typeface="Arial"/>
                <a:cs typeface="Arial"/>
              </a:rPr>
              <a:t>up</a:t>
            </a:r>
            <a:r>
              <a:rPr sz="2250" spc="21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250" spc="10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95" dirty="0">
                <a:solidFill>
                  <a:srgbClr val="485262"/>
                </a:solidFill>
                <a:latin typeface="Arial"/>
                <a:cs typeface="Arial"/>
              </a:rPr>
              <a:t>drop</a:t>
            </a:r>
            <a:r>
              <a:rPr sz="2250" spc="1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485262"/>
                </a:solidFill>
                <a:latin typeface="Arial"/>
                <a:cs typeface="Arial"/>
              </a:rPr>
              <a:t>services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28609" y="5036530"/>
            <a:ext cx="1202055" cy="7569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550" b="1" spc="-405" dirty="0">
                <a:solidFill>
                  <a:srgbClr val="D8A879"/>
                </a:solidFill>
                <a:latin typeface="Arial"/>
                <a:cs typeface="Arial"/>
              </a:rPr>
              <a:t>.......</a:t>
            </a:r>
            <a:r>
              <a:rPr sz="2550" b="1" spc="-405" dirty="0">
                <a:solidFill>
                  <a:srgbClr val="C19C75"/>
                </a:solidFill>
                <a:latin typeface="Arial"/>
                <a:cs typeface="Arial"/>
              </a:rPr>
              <a:t>.,.</a:t>
            </a:r>
            <a:r>
              <a:rPr sz="2550" b="1" spc="-405" dirty="0">
                <a:solidFill>
                  <a:srgbClr val="8E7059"/>
                </a:solidFill>
                <a:latin typeface="Arial"/>
                <a:cs typeface="Arial"/>
              </a:rPr>
              <a:t>g�cm</a:t>
            </a:r>
            <a:endParaRPr sz="2550">
              <a:latin typeface="Arial"/>
              <a:cs typeface="Arial"/>
            </a:endParaRPr>
          </a:p>
          <a:p>
            <a:pPr marL="292100">
              <a:lnSpc>
                <a:spcPts val="869"/>
              </a:lnSpc>
              <a:spcBef>
                <a:spcPts val="165"/>
              </a:spcBef>
            </a:pPr>
            <a:r>
              <a:rPr sz="750" u="sng" spc="250" dirty="0">
                <a:solidFill>
                  <a:srgbClr val="A78262"/>
                </a:solidFill>
                <a:uFill>
                  <a:solidFill>
                    <a:srgbClr val="A78262"/>
                  </a:solidFill>
                </a:uFill>
                <a:latin typeface="Arial"/>
                <a:cs typeface="Arial"/>
              </a:rPr>
              <a:t>-</a:t>
            </a:r>
            <a:r>
              <a:rPr sz="750" u="sng" spc="254" dirty="0">
                <a:solidFill>
                  <a:srgbClr val="C19C75"/>
                </a:solidFill>
                <a:uFill>
                  <a:solidFill>
                    <a:srgbClr val="A78262"/>
                  </a:solidFill>
                </a:uFill>
                <a:latin typeface="Arial"/>
                <a:cs typeface="Arial"/>
              </a:rPr>
              <a:t>---</a:t>
            </a:r>
            <a:r>
              <a:rPr sz="750" u="sng" spc="355" dirty="0">
                <a:solidFill>
                  <a:srgbClr val="C19C75"/>
                </a:solidFill>
                <a:uFill>
                  <a:solidFill>
                    <a:srgbClr val="A78262"/>
                  </a:solidFill>
                </a:uFill>
                <a:latin typeface="Arial"/>
                <a:cs typeface="Arial"/>
              </a:rPr>
              <a:t>=-</a:t>
            </a:r>
            <a:r>
              <a:rPr sz="750" u="sng" spc="245" dirty="0">
                <a:solidFill>
                  <a:srgbClr val="A78262"/>
                </a:solidFill>
                <a:uFill>
                  <a:solidFill>
                    <a:srgbClr val="A78262"/>
                  </a:solidFill>
                </a:uFill>
                <a:latin typeface="Arial"/>
                <a:cs typeface="Arial"/>
              </a:rPr>
              <a:t>--</a:t>
            </a:r>
            <a:r>
              <a:rPr sz="750" u="none" spc="455" dirty="0">
                <a:solidFill>
                  <a:srgbClr val="A78262"/>
                </a:solidFill>
                <a:latin typeface="Arial"/>
                <a:cs typeface="Arial"/>
              </a:rPr>
              <a:t>P</a:t>
            </a:r>
            <a:endParaRPr sz="750">
              <a:latin typeface="Arial"/>
              <a:cs typeface="Arial"/>
            </a:endParaRPr>
          </a:p>
          <a:p>
            <a:pPr marL="480059">
              <a:lnSpc>
                <a:spcPts val="1050"/>
              </a:lnSpc>
            </a:pPr>
            <a:r>
              <a:rPr sz="900" b="1" spc="-10" dirty="0">
                <a:solidFill>
                  <a:srgbClr val="A78262"/>
                </a:solidFill>
                <a:latin typeface="Arial"/>
                <a:cs typeface="Arial"/>
              </a:rPr>
              <a:t>SSRl�S</a:t>
            </a:r>
            <a:r>
              <a:rPr sz="900" b="1" spc="-10" dirty="0">
                <a:solidFill>
                  <a:srgbClr val="826042"/>
                </a:solidFill>
                <a:latin typeface="Arial"/>
                <a:cs typeface="Arial"/>
              </a:rPr>
              <a:t>AIA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4131" y="4126576"/>
            <a:ext cx="959582" cy="7717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3509" y="4142325"/>
            <a:ext cx="346079" cy="7559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8242" y="4142325"/>
            <a:ext cx="251693" cy="7559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18380" y="4142325"/>
            <a:ext cx="770812" cy="7559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611798" y="4173825"/>
            <a:ext cx="959582" cy="67724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5"/>
              </a:spcBef>
            </a:pPr>
            <a:r>
              <a:rPr spc="290" dirty="0">
                <a:solidFill>
                  <a:srgbClr val="0E1626"/>
                </a:solidFill>
              </a:rPr>
              <a:t>Business</a:t>
            </a:r>
            <a:r>
              <a:rPr spc="165" dirty="0">
                <a:solidFill>
                  <a:srgbClr val="0E1626"/>
                </a:solidFill>
              </a:rPr>
              <a:t> </a:t>
            </a:r>
            <a:r>
              <a:rPr spc="390" dirty="0">
                <a:solidFill>
                  <a:srgbClr val="F47E1A"/>
                </a:solidFill>
              </a:rPr>
              <a:t>Context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32802" y="5558934"/>
            <a:ext cx="3229610" cy="3080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90"/>
              </a:spcBef>
            </a:pPr>
            <a:r>
              <a:rPr sz="3450" b="1" spc="125" dirty="0">
                <a:solidFill>
                  <a:srgbClr val="1D2636"/>
                </a:solidFill>
                <a:latin typeface="Arial"/>
                <a:cs typeface="Arial"/>
              </a:rPr>
              <a:t>Customers</a:t>
            </a:r>
            <a:endParaRPr sz="3450">
              <a:latin typeface="Arial"/>
              <a:cs typeface="Arial"/>
            </a:endParaRPr>
          </a:p>
          <a:p>
            <a:pPr marL="12065" marR="5080" indent="3175" algn="ctr">
              <a:lnSpc>
                <a:spcPct val="129200"/>
              </a:lnSpc>
              <a:spcBef>
                <a:spcPts val="2095"/>
              </a:spcBef>
            </a:pP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Millions</a:t>
            </a:r>
            <a:r>
              <a:rPr sz="2300" spc="16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of</a:t>
            </a:r>
            <a:r>
              <a:rPr sz="2300" spc="27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95262"/>
                </a:solidFill>
                <a:latin typeface="Arial"/>
                <a:cs typeface="Arial"/>
              </a:rPr>
              <a:t>users</a:t>
            </a:r>
            <a:r>
              <a:rPr sz="2300" spc="10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95262"/>
                </a:solidFill>
                <a:latin typeface="Arial"/>
                <a:cs typeface="Arial"/>
              </a:rPr>
              <a:t>relying </a:t>
            </a:r>
            <a:r>
              <a:rPr sz="2300" spc="85" dirty="0">
                <a:solidFill>
                  <a:srgbClr val="495262"/>
                </a:solidFill>
                <a:latin typeface="Arial"/>
                <a:cs typeface="Arial"/>
              </a:rPr>
              <a:t>on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95262"/>
                </a:solidFill>
                <a:latin typeface="Arial"/>
                <a:cs typeface="Arial"/>
              </a:rPr>
              <a:t>the</a:t>
            </a:r>
            <a:r>
              <a:rPr sz="2300" spc="10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platform</a:t>
            </a:r>
            <a:r>
              <a:rPr sz="2300" spc="18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95262"/>
                </a:solidFill>
                <a:latin typeface="Arial"/>
                <a:cs typeface="Arial"/>
              </a:rPr>
              <a:t>for</a:t>
            </a:r>
            <a:r>
              <a:rPr sz="2300" spc="13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95262"/>
                </a:solidFill>
                <a:latin typeface="Arial"/>
                <a:cs typeface="Arial"/>
              </a:rPr>
              <a:t>daily </a:t>
            </a:r>
            <a:r>
              <a:rPr sz="2300" spc="70" dirty="0">
                <a:solidFill>
                  <a:srgbClr val="495262"/>
                </a:solidFill>
                <a:latin typeface="Arial"/>
                <a:cs typeface="Arial"/>
              </a:rPr>
              <a:t>food</a:t>
            </a:r>
            <a:r>
              <a:rPr sz="2300" spc="5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and</a:t>
            </a:r>
            <a:r>
              <a:rPr sz="2300" spc="3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95262"/>
                </a:solidFill>
                <a:latin typeface="Arial"/>
                <a:cs typeface="Arial"/>
              </a:rPr>
              <a:t>grocery</a:t>
            </a:r>
            <a:r>
              <a:rPr sz="2300" spc="57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95262"/>
                </a:solidFill>
                <a:latin typeface="Arial"/>
                <a:cs typeface="Arial"/>
              </a:rPr>
              <a:t>needs</a:t>
            </a:r>
            <a:r>
              <a:rPr sz="2300" spc="22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across</a:t>
            </a:r>
            <a:r>
              <a:rPr sz="2300" spc="23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95262"/>
                </a:solidFill>
                <a:latin typeface="Arial"/>
                <a:cs typeface="Arial"/>
              </a:rPr>
              <a:t>major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Indian</a:t>
            </a:r>
            <a:r>
              <a:rPr sz="2300" spc="8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95262"/>
                </a:solidFill>
                <a:latin typeface="Arial"/>
                <a:cs typeface="Arial"/>
              </a:rPr>
              <a:t>cities.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2159" y="5558934"/>
            <a:ext cx="3162935" cy="3072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90"/>
              </a:spcBef>
            </a:pPr>
            <a:r>
              <a:rPr sz="3450" b="1" dirty="0">
                <a:solidFill>
                  <a:srgbClr val="1D2636"/>
                </a:solidFill>
                <a:latin typeface="Arial"/>
                <a:cs typeface="Arial"/>
              </a:rPr>
              <a:t>Restau</a:t>
            </a:r>
            <a:r>
              <a:rPr sz="3450" b="1" spc="-145" dirty="0">
                <a:solidFill>
                  <a:srgbClr val="1D2636"/>
                </a:solidFill>
                <a:latin typeface="Arial"/>
                <a:cs typeface="Arial"/>
              </a:rPr>
              <a:t> </a:t>
            </a:r>
            <a:r>
              <a:rPr sz="3450" b="1" spc="150" dirty="0">
                <a:solidFill>
                  <a:srgbClr val="1D2636"/>
                </a:solidFill>
                <a:latin typeface="Arial"/>
                <a:cs typeface="Arial"/>
              </a:rPr>
              <a:t>rants</a:t>
            </a:r>
            <a:endParaRPr sz="3450">
              <a:latin typeface="Arial"/>
              <a:cs typeface="Arial"/>
            </a:endParaRPr>
          </a:p>
          <a:p>
            <a:pPr marL="12065" marR="5080" indent="8890" algn="ctr">
              <a:lnSpc>
                <a:spcPct val="128600"/>
              </a:lnSpc>
              <a:spcBef>
                <a:spcPts val="2110"/>
              </a:spcBef>
            </a:pP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Partnering</a:t>
            </a:r>
            <a:r>
              <a:rPr sz="2300" spc="40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95262"/>
                </a:solidFill>
                <a:latin typeface="Arial"/>
                <a:cs typeface="Arial"/>
              </a:rPr>
              <a:t>with</a:t>
            </a:r>
            <a:r>
              <a:rPr sz="2300" spc="12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95262"/>
                </a:solidFill>
                <a:latin typeface="Arial"/>
                <a:cs typeface="Arial"/>
              </a:rPr>
              <a:t>local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eateries</a:t>
            </a:r>
            <a:r>
              <a:rPr sz="2300" spc="30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to</a:t>
            </a:r>
            <a:r>
              <a:rPr sz="2300" spc="25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95262"/>
                </a:solidFill>
                <a:latin typeface="Arial"/>
                <a:cs typeface="Arial"/>
              </a:rPr>
              <a:t>premium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chains,</a:t>
            </a:r>
            <a:r>
              <a:rPr sz="2300" spc="21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expanding</a:t>
            </a:r>
            <a:r>
              <a:rPr sz="2300" spc="37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95262"/>
                </a:solidFill>
                <a:latin typeface="Arial"/>
                <a:cs typeface="Arial"/>
              </a:rPr>
              <a:t>their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reach</a:t>
            </a:r>
            <a:r>
              <a:rPr sz="2300" spc="19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and</a:t>
            </a:r>
            <a:r>
              <a:rPr sz="2300" spc="12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95262"/>
                </a:solidFill>
                <a:latin typeface="Arial"/>
                <a:cs typeface="Arial"/>
              </a:rPr>
              <a:t>operational </a:t>
            </a:r>
            <a:r>
              <a:rPr sz="2300" spc="45" dirty="0">
                <a:solidFill>
                  <a:srgbClr val="495262"/>
                </a:solidFill>
                <a:latin typeface="Arial"/>
                <a:cs typeface="Arial"/>
              </a:rPr>
              <a:t>footprint.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81018" y="5566809"/>
            <a:ext cx="3255010" cy="2615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90"/>
              </a:spcBef>
            </a:pPr>
            <a:r>
              <a:rPr sz="3450" b="1" spc="210" dirty="0">
                <a:solidFill>
                  <a:srgbClr val="1D2636"/>
                </a:solidFill>
                <a:latin typeface="Arial"/>
                <a:cs typeface="Arial"/>
              </a:rPr>
              <a:t>Campaigns</a:t>
            </a:r>
            <a:endParaRPr sz="3450">
              <a:latin typeface="Arial"/>
              <a:cs typeface="Arial"/>
            </a:endParaRPr>
          </a:p>
          <a:p>
            <a:pPr marL="12065" marR="5080" algn="ctr">
              <a:lnSpc>
                <a:spcPct val="128800"/>
              </a:lnSpc>
              <a:spcBef>
                <a:spcPts val="2045"/>
              </a:spcBef>
            </a:pP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Strategic</a:t>
            </a:r>
            <a:r>
              <a:rPr sz="2300" spc="45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marketing</a:t>
            </a:r>
            <a:r>
              <a:rPr sz="2300" spc="38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495262"/>
                </a:solidFill>
                <a:latin typeface="Arial"/>
                <a:cs typeface="Arial"/>
              </a:rPr>
              <a:t>and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promotions</a:t>
            </a:r>
            <a:r>
              <a:rPr sz="2300" spc="-15" dirty="0">
                <a:solidFill>
                  <a:srgbClr val="495262"/>
                </a:solidFill>
                <a:latin typeface="Arial"/>
                <a:cs typeface="Arial"/>
              </a:rPr>
              <a:t> 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driving</a:t>
            </a:r>
            <a:r>
              <a:rPr sz="2300" spc="38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35" dirty="0">
                <a:solidFill>
                  <a:srgbClr val="495262"/>
                </a:solidFill>
                <a:latin typeface="Arial"/>
                <a:cs typeface="Arial"/>
              </a:rPr>
              <a:t>user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acquisition,</a:t>
            </a:r>
            <a:r>
              <a:rPr sz="2300" spc="37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95262"/>
                </a:solidFill>
                <a:latin typeface="Arial"/>
                <a:cs typeface="Arial"/>
              </a:rPr>
              <a:t>retention,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and</a:t>
            </a:r>
            <a:r>
              <a:rPr sz="2300" spc="3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95262"/>
                </a:solidFill>
                <a:latin typeface="Arial"/>
                <a:cs typeface="Arial"/>
              </a:rPr>
              <a:t>order</a:t>
            </a:r>
            <a:r>
              <a:rPr sz="2300" spc="7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95262"/>
                </a:solidFill>
                <a:latin typeface="Arial"/>
                <a:cs typeface="Arial"/>
              </a:rPr>
              <a:t>frequency.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03394" y="5558934"/>
            <a:ext cx="2964815" cy="3080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90"/>
              </a:spcBef>
            </a:pPr>
            <a:r>
              <a:rPr sz="3450" b="1" spc="50" dirty="0">
                <a:solidFill>
                  <a:srgbClr val="1D2636"/>
                </a:solidFill>
                <a:latin typeface="Arial"/>
                <a:cs typeface="Arial"/>
              </a:rPr>
              <a:t>Deliveries</a:t>
            </a:r>
            <a:endParaRPr sz="3450">
              <a:latin typeface="Arial"/>
              <a:cs typeface="Arial"/>
            </a:endParaRPr>
          </a:p>
          <a:p>
            <a:pPr marL="12700" marR="5080" indent="-7620" algn="ctr">
              <a:lnSpc>
                <a:spcPct val="129200"/>
              </a:lnSpc>
              <a:spcBef>
                <a:spcPts val="2095"/>
              </a:spcBef>
            </a:pPr>
            <a:r>
              <a:rPr sz="2300" spc="-10" dirty="0">
                <a:solidFill>
                  <a:srgbClr val="495262"/>
                </a:solidFill>
                <a:latin typeface="Arial"/>
                <a:cs typeface="Arial"/>
              </a:rPr>
              <a:t>An</a:t>
            </a:r>
            <a:r>
              <a:rPr sz="2300" spc="3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intricate</a:t>
            </a:r>
            <a:r>
              <a:rPr sz="2300" spc="275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95262"/>
                </a:solidFill>
                <a:latin typeface="Arial"/>
                <a:cs typeface="Arial"/>
              </a:rPr>
              <a:t>logistics </a:t>
            </a:r>
            <a:r>
              <a:rPr sz="2300" spc="80" dirty="0">
                <a:solidFill>
                  <a:srgbClr val="495262"/>
                </a:solidFill>
                <a:latin typeface="Arial"/>
                <a:cs typeface="Arial"/>
              </a:rPr>
              <a:t>network</a:t>
            </a:r>
            <a:r>
              <a:rPr sz="2300" spc="11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95262"/>
                </a:solidFill>
                <a:latin typeface="Arial"/>
                <a:cs typeface="Arial"/>
              </a:rPr>
              <a:t>ensuring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timely</a:t>
            </a:r>
            <a:r>
              <a:rPr sz="2300" spc="8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95262"/>
                </a:solidFill>
                <a:latin typeface="Arial"/>
                <a:cs typeface="Arial"/>
              </a:rPr>
              <a:t>fulfillment</a:t>
            </a:r>
            <a:r>
              <a:rPr sz="2300" spc="28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95262"/>
                </a:solidFill>
                <a:latin typeface="Arial"/>
                <a:cs typeface="Arial"/>
              </a:rPr>
              <a:t>from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merchant</a:t>
            </a:r>
            <a:r>
              <a:rPr sz="2300" spc="33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2"/>
                </a:solidFill>
                <a:latin typeface="Arial"/>
                <a:cs typeface="Arial"/>
              </a:rPr>
              <a:t>to</a:t>
            </a:r>
            <a:r>
              <a:rPr sz="2300" spc="21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95262"/>
                </a:solidFill>
                <a:latin typeface="Arial"/>
                <a:cs typeface="Arial"/>
              </a:rPr>
              <a:t>the customer's</a:t>
            </a:r>
            <a:r>
              <a:rPr sz="2300" spc="240" dirty="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95262"/>
                </a:solidFill>
                <a:latin typeface="Arial"/>
                <a:cs typeface="Arial"/>
              </a:rPr>
              <a:t>doorstep.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29138" y="1003256"/>
            <a:ext cx="675259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575" dirty="0"/>
              <a:t>Data</a:t>
            </a:r>
            <a:r>
              <a:rPr spc="175" dirty="0"/>
              <a:t> </a:t>
            </a:r>
            <a:r>
              <a:rPr spc="455" dirty="0"/>
              <a:t>Model</a:t>
            </a:r>
            <a:r>
              <a:rPr spc="-5" dirty="0"/>
              <a:t> </a:t>
            </a:r>
            <a:r>
              <a:rPr spc="405" dirty="0">
                <a:solidFill>
                  <a:srgbClr val="F27E1C"/>
                </a:solidFill>
              </a:rPr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5940" y="3495689"/>
            <a:ext cx="3222625" cy="568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b="1" spc="-430" dirty="0">
                <a:solidFill>
                  <a:srgbClr val="F27E1C"/>
                </a:solidFill>
                <a:latin typeface="Arial"/>
                <a:cs typeface="Arial"/>
              </a:rPr>
              <a:t>1§1</a:t>
            </a:r>
            <a:r>
              <a:rPr sz="3200" b="1" spc="-20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50" b="1" spc="70" dirty="0">
                <a:solidFill>
                  <a:srgbClr val="F27E1C"/>
                </a:solidFill>
                <a:latin typeface="Arial"/>
                <a:cs typeface="Arial"/>
              </a:rPr>
              <a:t>Fact</a:t>
            </a:r>
            <a:r>
              <a:rPr sz="3550" b="1" spc="5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50" b="1" spc="40" dirty="0">
                <a:solidFill>
                  <a:srgbClr val="F27E1C"/>
                </a:solidFill>
                <a:latin typeface="Arial"/>
                <a:cs typeface="Arial"/>
              </a:rPr>
              <a:t>Tables</a:t>
            </a:r>
            <a:endParaRPr sz="3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42609" y="3448439"/>
            <a:ext cx="473710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spc="50" dirty="0">
                <a:solidFill>
                  <a:srgbClr val="F27E1C"/>
                </a:solidFill>
                <a:latin typeface="Arial"/>
                <a:cs typeface="Arial"/>
              </a:rPr>
              <a:t>&amp;,</a:t>
            </a:r>
            <a:r>
              <a:rPr sz="3900" spc="455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50" b="1" spc="75" dirty="0">
                <a:solidFill>
                  <a:srgbClr val="F27E1C"/>
                </a:solidFill>
                <a:latin typeface="Arial"/>
                <a:cs typeface="Arial"/>
              </a:rPr>
              <a:t>Dimension</a:t>
            </a:r>
            <a:r>
              <a:rPr sz="3550" b="1" spc="240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50" b="1" spc="40" dirty="0">
                <a:solidFill>
                  <a:srgbClr val="F27E1C"/>
                </a:solidFill>
                <a:latin typeface="Arial"/>
                <a:cs typeface="Arial"/>
              </a:rPr>
              <a:t>Tables</a:t>
            </a:r>
            <a:endParaRPr sz="3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3870" y="4565899"/>
            <a:ext cx="7002780" cy="2152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187960" indent="3175">
              <a:lnSpc>
                <a:spcPct val="130300"/>
              </a:lnSpc>
              <a:spcBef>
                <a:spcPts val="100"/>
              </a:spcBef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The</a:t>
            </a:r>
            <a:r>
              <a:rPr sz="2300" spc="2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core</a:t>
            </a:r>
            <a:r>
              <a:rPr sz="2300" spc="1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transactional</a:t>
            </a:r>
            <a:r>
              <a:rPr sz="2300" spc="2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data</a:t>
            </a:r>
            <a:r>
              <a:rPr sz="2300" spc="1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capturing</a:t>
            </a:r>
            <a:r>
              <a:rPr sz="2300" spc="2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measurable,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quantitative</a:t>
            </a:r>
            <a:r>
              <a:rPr sz="2300" spc="3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85262"/>
                </a:solidFill>
                <a:latin typeface="Arial"/>
                <a:cs typeface="Arial"/>
              </a:rPr>
              <a:t>events</a:t>
            </a:r>
            <a:r>
              <a:rPr sz="2300" spc="2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in</a:t>
            </a:r>
            <a:r>
              <a:rPr sz="2300" spc="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the</a:t>
            </a:r>
            <a:r>
              <a:rPr sz="2300" spc="1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business</a:t>
            </a:r>
            <a:r>
              <a:rPr sz="2300" spc="28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process.</a:t>
            </a:r>
            <a:endParaRPr sz="2300">
              <a:latin typeface="Arial"/>
              <a:cs typeface="Arial"/>
            </a:endParaRPr>
          </a:p>
          <a:p>
            <a:pPr marL="425450" marR="5080" indent="-413384">
              <a:lnSpc>
                <a:spcPct val="130300"/>
              </a:lnSpc>
              <a:spcBef>
                <a:spcPts val="2355"/>
              </a:spcBef>
              <a:buClr>
                <a:srgbClr val="F27E1C"/>
              </a:buClr>
              <a:buFont typeface="Arial"/>
              <a:buChar char="•"/>
              <a:tabLst>
                <a:tab pos="425450" algn="l"/>
              </a:tabLst>
            </a:pPr>
            <a:r>
              <a:rPr sz="2100" b="1" spc="90" dirty="0">
                <a:solidFill>
                  <a:srgbClr val="485262"/>
                </a:solidFill>
                <a:latin typeface="Arial"/>
                <a:cs typeface="Arial"/>
              </a:rPr>
              <a:t>facLtransactions:</a:t>
            </a:r>
            <a:r>
              <a:rPr sz="2100" b="1" spc="-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Central</a:t>
            </a:r>
            <a:r>
              <a:rPr sz="2300" spc="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repository</a:t>
            </a:r>
            <a:r>
              <a:rPr sz="2300" spc="1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for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all</a:t>
            </a:r>
            <a:r>
              <a:rPr sz="2300" spc="-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order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300" spc="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delivery</a:t>
            </a:r>
            <a:r>
              <a:rPr sz="2300" spc="2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execution</a:t>
            </a:r>
            <a:r>
              <a:rPr sz="2300" spc="25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85262"/>
                </a:solidFill>
                <a:latin typeface="Arial"/>
                <a:cs typeface="Arial"/>
              </a:rPr>
              <a:t>metrics.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49700" y="4565899"/>
            <a:ext cx="7078345" cy="445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5080" indent="-4445">
              <a:lnSpc>
                <a:spcPct val="130300"/>
              </a:lnSpc>
              <a:spcBef>
                <a:spcPts val="100"/>
              </a:spcBef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Descriptive</a:t>
            </a:r>
            <a:r>
              <a:rPr sz="2300" spc="4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attributes</a:t>
            </a:r>
            <a:r>
              <a:rPr sz="2300" spc="3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providing</a:t>
            </a:r>
            <a:r>
              <a:rPr sz="2300" spc="3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85262"/>
                </a:solidFill>
                <a:latin typeface="Arial"/>
                <a:cs typeface="Arial"/>
              </a:rPr>
              <a:t>context</a:t>
            </a:r>
            <a:r>
              <a:rPr sz="2300" spc="2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to</a:t>
            </a:r>
            <a:r>
              <a:rPr sz="2300" spc="18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the</a:t>
            </a:r>
            <a:r>
              <a:rPr sz="2300" spc="2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85262"/>
                </a:solidFill>
                <a:latin typeface="Arial"/>
                <a:cs typeface="Arial"/>
              </a:rPr>
              <a:t>facts,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allowing</a:t>
            </a:r>
            <a:r>
              <a:rPr sz="2300" spc="1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for</a:t>
            </a:r>
            <a:r>
              <a:rPr sz="2300" spc="1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detailed</a:t>
            </a:r>
            <a:r>
              <a:rPr sz="2300" spc="1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filtering</a:t>
            </a:r>
            <a:r>
              <a:rPr sz="2300" spc="8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300" spc="8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grouping.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30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spcBef>
                <a:spcPts val="5"/>
              </a:spcBef>
              <a:buClr>
                <a:srgbClr val="F27E1C"/>
              </a:buClr>
              <a:buFont typeface="Arial"/>
              <a:buChar char="•"/>
              <a:tabLst>
                <a:tab pos="424815" algn="l"/>
              </a:tabLst>
            </a:pPr>
            <a:r>
              <a:rPr sz="2100" b="1" dirty="0">
                <a:solidFill>
                  <a:srgbClr val="485262"/>
                </a:solidFill>
                <a:latin typeface="Arial"/>
                <a:cs typeface="Arial"/>
              </a:rPr>
              <a:t>dim_coupon:</a:t>
            </a:r>
            <a:r>
              <a:rPr sz="2100" b="1" spc="4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Discount</a:t>
            </a:r>
            <a:r>
              <a:rPr sz="2300" spc="4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parameters.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27E1C"/>
              </a:buClr>
              <a:buFont typeface="Arial"/>
              <a:buChar char="•"/>
            </a:pPr>
            <a:endParaRPr sz="230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buClr>
                <a:srgbClr val="F27E1C"/>
              </a:buClr>
              <a:buFont typeface="Arial"/>
              <a:buChar char="•"/>
              <a:tabLst>
                <a:tab pos="424815" algn="l"/>
              </a:tabLst>
            </a:pPr>
            <a:r>
              <a:rPr sz="2100" b="1" spc="85" dirty="0">
                <a:solidFill>
                  <a:srgbClr val="485262"/>
                </a:solidFill>
                <a:latin typeface="Arial"/>
                <a:cs typeface="Arial"/>
              </a:rPr>
              <a:t>dim_restauranLproduct:</a:t>
            </a:r>
            <a:r>
              <a:rPr sz="2100" b="1" spc="8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Merchant</a:t>
            </a:r>
            <a:r>
              <a:rPr sz="2300" spc="3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catalog.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Clr>
                <a:srgbClr val="F27E1C"/>
              </a:buClr>
              <a:buFont typeface="Arial"/>
              <a:buChar char="•"/>
            </a:pPr>
            <a:endParaRPr sz="210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buClr>
                <a:srgbClr val="F27E1C"/>
              </a:buClr>
              <a:buFont typeface="Arial"/>
              <a:buChar char="•"/>
              <a:tabLst>
                <a:tab pos="424815" algn="l"/>
              </a:tabLst>
            </a:pPr>
            <a:r>
              <a:rPr sz="2100" b="1" spc="55" dirty="0">
                <a:solidFill>
                  <a:srgbClr val="485262"/>
                </a:solidFill>
                <a:latin typeface="Arial"/>
                <a:cs typeface="Arial"/>
              </a:rPr>
              <a:t>dim_customers:</a:t>
            </a:r>
            <a:r>
              <a:rPr sz="2100" b="1" spc="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User</a:t>
            </a:r>
            <a:r>
              <a:rPr sz="2300" spc="2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demographics</a:t>
            </a:r>
            <a:r>
              <a:rPr sz="2300" spc="43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050" spc="120" dirty="0">
                <a:solidFill>
                  <a:srgbClr val="485262"/>
                </a:solidFill>
                <a:latin typeface="Arial"/>
                <a:cs typeface="Arial"/>
              </a:rPr>
              <a:t>&amp;</a:t>
            </a:r>
            <a:r>
              <a:rPr sz="2050" spc="1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tech.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27E1C"/>
              </a:buClr>
              <a:buFont typeface="Arial"/>
              <a:buChar char="•"/>
            </a:pPr>
            <a:endParaRPr sz="230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buClr>
                <a:srgbClr val="F27E1C"/>
              </a:buClr>
              <a:buFont typeface="Arial"/>
              <a:buChar char="•"/>
              <a:tabLst>
                <a:tab pos="424815" algn="l"/>
              </a:tabLst>
            </a:pPr>
            <a:r>
              <a:rPr sz="2100" b="1" dirty="0">
                <a:solidFill>
                  <a:srgbClr val="485262"/>
                </a:solidFill>
                <a:latin typeface="Arial"/>
                <a:cs typeface="Arial"/>
              </a:rPr>
              <a:t>dim_geo:</a:t>
            </a:r>
            <a:r>
              <a:rPr sz="2100" b="1" spc="3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City</a:t>
            </a:r>
            <a:r>
              <a:rPr sz="2300" spc="1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300" spc="1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location</a:t>
            </a:r>
            <a:r>
              <a:rPr sz="2300" spc="2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mapping.</a:t>
            </a:r>
            <a:endParaRPr sz="2300">
              <a:latin typeface="Arial"/>
              <a:cs typeface="Arial"/>
            </a:endParaRPr>
          </a:p>
          <a:p>
            <a:pPr marL="424815" indent="-412115">
              <a:lnSpc>
                <a:spcPct val="100000"/>
              </a:lnSpc>
              <a:spcBef>
                <a:spcPts val="2570"/>
              </a:spcBef>
              <a:buClr>
                <a:srgbClr val="F27E1C"/>
              </a:buClr>
              <a:buFont typeface="Arial"/>
              <a:buChar char="•"/>
              <a:tabLst>
                <a:tab pos="424815" algn="l"/>
              </a:tabLst>
            </a:pPr>
            <a:r>
              <a:rPr sz="2100" b="1" dirty="0">
                <a:solidFill>
                  <a:srgbClr val="485262"/>
                </a:solidFill>
                <a:latin typeface="Arial"/>
                <a:cs typeface="Arial"/>
              </a:rPr>
              <a:t>dim_campaign:</a:t>
            </a:r>
            <a:r>
              <a:rPr sz="2100" b="1" spc="38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Marketing</a:t>
            </a:r>
            <a:r>
              <a:rPr sz="2300" spc="21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initiatives.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46969" y="156702"/>
            <a:ext cx="11760835" cy="139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City-</a:t>
            </a:r>
            <a:r>
              <a:rPr sz="2450" b="1" spc="60" dirty="0">
                <a:solidFill>
                  <a:srgbClr val="0C1526"/>
                </a:solidFill>
                <a:latin typeface="Arial"/>
                <a:cs typeface="Arial"/>
              </a:rPr>
              <a:t>wise</a:t>
            </a:r>
            <a:r>
              <a:rPr sz="2450" b="1" spc="20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Order</a:t>
            </a:r>
            <a:r>
              <a:rPr sz="2450" b="1" spc="14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350" spc="170" dirty="0">
                <a:solidFill>
                  <a:srgbClr val="0C1526"/>
                </a:solidFill>
                <a:latin typeface="Arial"/>
                <a:cs typeface="Arial"/>
              </a:rPr>
              <a:t>&amp;</a:t>
            </a:r>
            <a:r>
              <a:rPr sz="2350" spc="-10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Delivery</a:t>
            </a:r>
            <a:r>
              <a:rPr sz="2450" b="1" spc="16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0C1526"/>
                </a:solidFill>
                <a:latin typeface="Arial"/>
                <a:cs typeface="Arial"/>
              </a:rPr>
              <a:t>Performance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65"/>
              </a:spcBef>
            </a:pPr>
            <a:endParaRPr sz="245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Evaluate</a:t>
            </a:r>
            <a:r>
              <a:rPr sz="2300" spc="2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300" spc="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compare</a:t>
            </a:r>
            <a:r>
              <a:rPr sz="2300" spc="20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operational</a:t>
            </a:r>
            <a:r>
              <a:rPr sz="2300" spc="21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scale</a:t>
            </a:r>
            <a:r>
              <a:rPr sz="2300" spc="1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300" spc="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execution</a:t>
            </a:r>
            <a:r>
              <a:rPr sz="2300" spc="1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85262"/>
                </a:solidFill>
                <a:latin typeface="Arial"/>
                <a:cs typeface="Arial"/>
              </a:rPr>
              <a:t>efficiency</a:t>
            </a:r>
            <a:r>
              <a:rPr sz="2300" spc="1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85262"/>
                </a:solidFill>
                <a:latin typeface="Arial"/>
                <a:cs typeface="Arial"/>
              </a:rPr>
              <a:t>between</a:t>
            </a:r>
            <a:r>
              <a:rPr sz="2300" spc="9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major</a:t>
            </a:r>
            <a:r>
              <a:rPr sz="2300" spc="1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hubs.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7378" y="2834192"/>
            <a:ext cx="12503785" cy="137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Monthly</a:t>
            </a:r>
            <a:r>
              <a:rPr sz="2450" b="1" spc="6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spc="90" dirty="0">
                <a:solidFill>
                  <a:srgbClr val="0C1526"/>
                </a:solidFill>
                <a:latin typeface="Arial"/>
                <a:cs typeface="Arial"/>
              </a:rPr>
              <a:t>Net</a:t>
            </a:r>
            <a:r>
              <a:rPr sz="2450" b="1" spc="-7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Revenue</a:t>
            </a:r>
            <a:r>
              <a:rPr sz="2450" b="1" spc="24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0C1526"/>
                </a:solidFill>
                <a:latin typeface="Arial"/>
                <a:cs typeface="Arial"/>
              </a:rPr>
              <a:t>Analysis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Map</a:t>
            </a:r>
            <a:r>
              <a:rPr sz="2300" spc="19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financial</a:t>
            </a:r>
            <a:r>
              <a:rPr sz="2300" spc="21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trajectories</a:t>
            </a:r>
            <a:r>
              <a:rPr sz="2300" spc="49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to</a:t>
            </a:r>
            <a:r>
              <a:rPr sz="2300" spc="2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identify</a:t>
            </a:r>
            <a:r>
              <a:rPr sz="2300" spc="28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seasonal</a:t>
            </a:r>
            <a:r>
              <a:rPr sz="2300" spc="26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peaks,</a:t>
            </a:r>
            <a:r>
              <a:rPr sz="2300" spc="1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stabilization</a:t>
            </a:r>
            <a:r>
              <a:rPr sz="2300" spc="3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periods,</a:t>
            </a:r>
            <a:r>
              <a:rPr sz="2300" spc="2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300" spc="1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potential</a:t>
            </a:r>
            <a:r>
              <a:rPr sz="2300" spc="1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dips.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6756" y="5503809"/>
            <a:ext cx="588772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Delivery</a:t>
            </a:r>
            <a:r>
              <a:rPr sz="2450" b="1" spc="19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Success</a:t>
            </a:r>
            <a:r>
              <a:rPr sz="2450" b="1" spc="7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Rate</a:t>
            </a:r>
            <a:r>
              <a:rPr sz="2450" b="1" spc="8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350" spc="170" dirty="0">
                <a:solidFill>
                  <a:srgbClr val="0C1526"/>
                </a:solidFill>
                <a:latin typeface="Arial"/>
                <a:cs typeface="Arial"/>
              </a:rPr>
              <a:t>&amp;</a:t>
            </a:r>
            <a:r>
              <a:rPr sz="2350" spc="-11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Device</a:t>
            </a:r>
            <a:r>
              <a:rPr sz="2450" b="1" spc="7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0C1526"/>
                </a:solidFill>
                <a:latin typeface="Arial"/>
                <a:cs typeface="Arial"/>
              </a:rPr>
              <a:t>Usage</a:t>
            </a:r>
            <a:endParaRPr sz="2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05608" y="5830620"/>
            <a:ext cx="37782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30" dirty="0">
                <a:solidFill>
                  <a:srgbClr val="F2801D"/>
                </a:solidFill>
                <a:latin typeface="Arial"/>
                <a:cs typeface="Arial"/>
              </a:rPr>
              <a:t>□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4311" y="6515744"/>
            <a:ext cx="1287145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Understand</a:t>
            </a:r>
            <a:r>
              <a:rPr sz="2300" spc="31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the</a:t>
            </a:r>
            <a:r>
              <a:rPr sz="2300" spc="1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technological</a:t>
            </a:r>
            <a:r>
              <a:rPr sz="2300" spc="229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touchpoints</a:t>
            </a:r>
            <a:r>
              <a:rPr sz="2300" spc="4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driving</a:t>
            </a:r>
            <a:r>
              <a:rPr sz="2300" spc="1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the</a:t>
            </a:r>
            <a:r>
              <a:rPr sz="2300" spc="1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majority</a:t>
            </a:r>
            <a:r>
              <a:rPr sz="2300" spc="2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of</a:t>
            </a:r>
            <a:r>
              <a:rPr sz="2300" spc="51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successful</a:t>
            </a:r>
            <a:r>
              <a:rPr sz="2300" spc="1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order</a:t>
            </a:r>
            <a:r>
              <a:rPr sz="2300" spc="2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completions.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8310" y="8181302"/>
            <a:ext cx="5434965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Impact</a:t>
            </a:r>
            <a:r>
              <a:rPr sz="2450" b="1" spc="8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of</a:t>
            </a:r>
            <a:r>
              <a:rPr sz="2450" b="1" spc="14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Weather</a:t>
            </a:r>
            <a:r>
              <a:rPr sz="2450" b="1" spc="21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on</a:t>
            </a:r>
            <a:r>
              <a:rPr sz="2450" b="1" spc="-12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C1526"/>
                </a:solidFill>
                <a:latin typeface="Arial"/>
                <a:cs typeface="Arial"/>
              </a:rPr>
              <a:t>Delivery</a:t>
            </a:r>
            <a:r>
              <a:rPr sz="2450" b="1" spc="22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spc="-20" dirty="0">
                <a:solidFill>
                  <a:srgbClr val="0C1526"/>
                </a:solidFill>
                <a:latin typeface="Arial"/>
                <a:cs typeface="Arial"/>
              </a:rPr>
              <a:t>Time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44965" y="8890050"/>
            <a:ext cx="34036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i="1" spc="240" dirty="0">
                <a:solidFill>
                  <a:srgbClr val="F2801D"/>
                </a:solidFill>
                <a:latin typeface="Arial"/>
                <a:cs typeface="Arial"/>
              </a:rPr>
              <a:t>/Ill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6923" y="9193237"/>
            <a:ext cx="1019810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Quantify</a:t>
            </a:r>
            <a:r>
              <a:rPr sz="2300" spc="2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the</a:t>
            </a:r>
            <a:r>
              <a:rPr sz="2300" spc="1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friction</a:t>
            </a:r>
            <a:r>
              <a:rPr sz="2300" spc="1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85262"/>
                </a:solidFill>
                <a:latin typeface="Arial"/>
                <a:cs typeface="Arial"/>
              </a:rPr>
              <a:t>introduced</a:t>
            </a:r>
            <a:r>
              <a:rPr sz="2300" spc="2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85262"/>
                </a:solidFill>
                <a:latin typeface="Arial"/>
                <a:cs typeface="Arial"/>
              </a:rPr>
              <a:t>by</a:t>
            </a:r>
            <a:r>
              <a:rPr sz="2300" spc="1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adverse</a:t>
            </a:r>
            <a:r>
              <a:rPr sz="2300" spc="4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weather</a:t>
            </a:r>
            <a:r>
              <a:rPr sz="2300" spc="28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conditions</a:t>
            </a:r>
            <a:r>
              <a:rPr sz="2300" spc="3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485262"/>
                </a:solidFill>
                <a:latin typeface="Arial"/>
                <a:cs typeface="Arial"/>
              </a:rPr>
              <a:t>on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logistics.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5447" y="10823357"/>
            <a:ext cx="497268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dirty="0">
                <a:solidFill>
                  <a:srgbClr val="0C1526"/>
                </a:solidFill>
                <a:latin typeface="Arial"/>
                <a:cs typeface="Arial"/>
              </a:rPr>
              <a:t>Campaign</a:t>
            </a:r>
            <a:r>
              <a:rPr sz="2550" spc="1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C1526"/>
                </a:solidFill>
                <a:latin typeface="Arial"/>
                <a:cs typeface="Arial"/>
              </a:rPr>
              <a:t>Performance</a:t>
            </a:r>
            <a:r>
              <a:rPr sz="2550" spc="385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C1526"/>
                </a:solidFill>
                <a:latin typeface="Arial"/>
                <a:cs typeface="Arial"/>
              </a:rPr>
              <a:t>Analysis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060" y="4032076"/>
            <a:ext cx="755081" cy="755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0332" y="4016326"/>
            <a:ext cx="534849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19636" y="4063576"/>
            <a:ext cx="770812" cy="677248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414270" algn="l"/>
              </a:tabLst>
            </a:pPr>
            <a:r>
              <a:rPr spc="415" dirty="0">
                <a:solidFill>
                  <a:srgbClr val="0E1626"/>
                </a:solidFill>
              </a:rPr>
              <a:t>Goal</a:t>
            </a:r>
            <a:r>
              <a:rPr spc="-25" dirty="0">
                <a:solidFill>
                  <a:srgbClr val="0E1626"/>
                </a:solidFill>
              </a:rPr>
              <a:t> </a:t>
            </a:r>
            <a:r>
              <a:rPr spc="409" dirty="0">
                <a:solidFill>
                  <a:srgbClr val="0E1626"/>
                </a:solidFill>
              </a:rPr>
              <a:t>o</a:t>
            </a:r>
            <a:r>
              <a:rPr dirty="0">
                <a:solidFill>
                  <a:srgbClr val="0E1626"/>
                </a:solidFill>
              </a:rPr>
              <a:t>	</a:t>
            </a:r>
            <a:r>
              <a:rPr spc="370" dirty="0">
                <a:solidFill>
                  <a:srgbClr val="0E1626"/>
                </a:solidFill>
              </a:rPr>
              <a:t>the</a:t>
            </a:r>
            <a:r>
              <a:rPr spc="350" dirty="0">
                <a:solidFill>
                  <a:srgbClr val="0E1626"/>
                </a:solidFill>
              </a:rPr>
              <a:t> </a:t>
            </a:r>
            <a:r>
              <a:rPr spc="229" dirty="0">
                <a:solidFill>
                  <a:srgbClr val="F47E1A"/>
                </a:solidFill>
              </a:rPr>
              <a:t>Pro·ect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24357" y="4326499"/>
            <a:ext cx="20955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4450" spc="95" dirty="0">
                <a:solidFill>
                  <a:srgbClr val="F47E1A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2265" y="5315598"/>
            <a:ext cx="4705985" cy="341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marR="721995" indent="-635" algn="ctr">
              <a:lnSpc>
                <a:spcPct val="120600"/>
              </a:lnSpc>
              <a:spcBef>
                <a:spcPts val="100"/>
              </a:spcBef>
            </a:pPr>
            <a:r>
              <a:rPr sz="3600" b="1" spc="45" dirty="0">
                <a:solidFill>
                  <a:srgbClr val="1C2636"/>
                </a:solidFill>
                <a:latin typeface="Arial"/>
                <a:cs typeface="Arial"/>
              </a:rPr>
              <a:t>Understand </a:t>
            </a:r>
            <a:r>
              <a:rPr sz="3600" b="1" spc="85" dirty="0">
                <a:solidFill>
                  <a:srgbClr val="1C2636"/>
                </a:solidFill>
                <a:latin typeface="Arial"/>
                <a:cs typeface="Arial"/>
              </a:rPr>
              <a:t>Fundamentals</a:t>
            </a:r>
            <a:endParaRPr sz="3600">
              <a:latin typeface="Arial"/>
              <a:cs typeface="Arial"/>
            </a:endParaRPr>
          </a:p>
          <a:p>
            <a:pPr marL="12065" marR="5080" indent="3810" algn="ctr">
              <a:lnSpc>
                <a:spcPct val="128800"/>
              </a:lnSpc>
              <a:spcBef>
                <a:spcPts val="2075"/>
              </a:spcBef>
            </a:pP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Gain</a:t>
            </a:r>
            <a:r>
              <a:rPr sz="2300" spc="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a</a:t>
            </a:r>
            <a:r>
              <a:rPr sz="2300" spc="-6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clear</a:t>
            </a:r>
            <a:r>
              <a:rPr sz="2300" spc="9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95260"/>
                </a:solidFill>
                <a:latin typeface="Arial"/>
                <a:cs typeface="Arial"/>
              </a:rPr>
              <a:t>picture</a:t>
            </a:r>
            <a:r>
              <a:rPr sz="2300" spc="100" dirty="0">
                <a:solidFill>
                  <a:srgbClr val="495260"/>
                </a:solidFill>
                <a:latin typeface="Arial"/>
                <a:cs typeface="Arial"/>
              </a:rPr>
              <a:t> of</a:t>
            </a:r>
            <a:r>
              <a:rPr sz="2300" spc="7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95260"/>
                </a:solidFill>
                <a:latin typeface="Arial"/>
                <a:cs typeface="Arial"/>
              </a:rPr>
              <a:t>order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volumes</a:t>
            </a:r>
            <a:r>
              <a:rPr sz="2300" spc="34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across</a:t>
            </a:r>
            <a:r>
              <a:rPr sz="2300" spc="29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95260"/>
                </a:solidFill>
                <a:latin typeface="Arial"/>
                <a:cs typeface="Arial"/>
              </a:rPr>
              <a:t>cities,</a:t>
            </a:r>
            <a:r>
              <a:rPr sz="2300" spc="114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95260"/>
                </a:solidFill>
                <a:latin typeface="Arial"/>
                <a:cs typeface="Arial"/>
              </a:rPr>
              <a:t>delivery </a:t>
            </a:r>
            <a:r>
              <a:rPr sz="2300" spc="50" dirty="0">
                <a:solidFill>
                  <a:srgbClr val="495260"/>
                </a:solidFill>
                <a:latin typeface="Arial"/>
                <a:cs typeface="Arial"/>
              </a:rPr>
              <a:t>performance</a:t>
            </a:r>
            <a:r>
              <a:rPr sz="2300" spc="229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95260"/>
                </a:solidFill>
                <a:latin typeface="Arial"/>
                <a:cs typeface="Arial"/>
              </a:rPr>
              <a:t>metrics,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and</a:t>
            </a:r>
            <a:r>
              <a:rPr sz="2300" spc="3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95260"/>
                </a:solidFill>
                <a:latin typeface="Arial"/>
                <a:cs typeface="Arial"/>
              </a:rPr>
              <a:t>baseline </a:t>
            </a:r>
            <a:r>
              <a:rPr sz="2300" spc="50" dirty="0">
                <a:solidFill>
                  <a:srgbClr val="495260"/>
                </a:solidFill>
                <a:latin typeface="Arial"/>
                <a:cs typeface="Arial"/>
              </a:rPr>
              <a:t>revenue</a:t>
            </a:r>
            <a:r>
              <a:rPr sz="2300" spc="19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95260"/>
                </a:solidFill>
                <a:latin typeface="Arial"/>
                <a:cs typeface="Arial"/>
              </a:rPr>
              <a:t>trends.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88659" y="5428997"/>
            <a:ext cx="4733925" cy="2203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95"/>
              </a:spcBef>
            </a:pPr>
            <a:r>
              <a:rPr sz="3600" b="1" spc="120" dirty="0">
                <a:solidFill>
                  <a:srgbClr val="1C2636"/>
                </a:solidFill>
                <a:latin typeface="Arial"/>
                <a:cs typeface="Arial"/>
              </a:rPr>
              <a:t>Data-</a:t>
            </a:r>
            <a:r>
              <a:rPr sz="3600" b="1" spc="125" dirty="0">
                <a:solidFill>
                  <a:srgbClr val="1C2636"/>
                </a:solidFill>
                <a:latin typeface="Arial"/>
                <a:cs typeface="Arial"/>
              </a:rPr>
              <a:t>Driven</a:t>
            </a:r>
            <a:r>
              <a:rPr sz="3600" b="1" spc="75" dirty="0">
                <a:solidFill>
                  <a:srgbClr val="1C2636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1C2636"/>
                </a:solidFill>
                <a:latin typeface="Arial"/>
                <a:cs typeface="Arial"/>
              </a:rPr>
              <a:t>Insights</a:t>
            </a:r>
            <a:endParaRPr sz="3600">
              <a:latin typeface="Arial"/>
              <a:cs typeface="Arial"/>
            </a:endParaRPr>
          </a:p>
          <a:p>
            <a:pPr indent="22225" algn="ctr">
              <a:lnSpc>
                <a:spcPct val="130300"/>
              </a:lnSpc>
              <a:spcBef>
                <a:spcPts val="2035"/>
              </a:spcBef>
            </a:pP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Translate</a:t>
            </a:r>
            <a:r>
              <a:rPr sz="2300" spc="33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95260"/>
                </a:solidFill>
                <a:latin typeface="Arial"/>
                <a:cs typeface="Arial"/>
              </a:rPr>
              <a:t>raw</a:t>
            </a:r>
            <a:r>
              <a:rPr sz="2300" spc="20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operational</a:t>
            </a:r>
            <a:r>
              <a:rPr sz="2300" spc="16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data</a:t>
            </a:r>
            <a:r>
              <a:rPr sz="2300" spc="10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35" dirty="0">
                <a:solidFill>
                  <a:srgbClr val="495260"/>
                </a:solidFill>
                <a:latin typeface="Arial"/>
                <a:cs typeface="Arial"/>
              </a:rPr>
              <a:t>into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actionable</a:t>
            </a:r>
            <a:r>
              <a:rPr sz="2300" spc="55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strategic</a:t>
            </a:r>
            <a:r>
              <a:rPr sz="2300" spc="44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insights</a:t>
            </a:r>
            <a:r>
              <a:rPr sz="2300" spc="38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495260"/>
                </a:solidFill>
                <a:latin typeface="Arial"/>
                <a:cs typeface="Arial"/>
              </a:rPr>
              <a:t>to </a:t>
            </a:r>
            <a:r>
              <a:rPr sz="2300" spc="50" dirty="0">
                <a:solidFill>
                  <a:srgbClr val="495260"/>
                </a:solidFill>
                <a:latin typeface="Arial"/>
                <a:cs typeface="Arial"/>
              </a:rPr>
              <a:t>improve</a:t>
            </a:r>
            <a:r>
              <a:rPr sz="2300" spc="24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overall</a:t>
            </a:r>
            <a:r>
              <a:rPr sz="2300" spc="6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95260"/>
                </a:solidFill>
                <a:latin typeface="Arial"/>
                <a:cs typeface="Arial"/>
              </a:rPr>
              <a:t>platform</a:t>
            </a:r>
            <a:r>
              <a:rPr sz="2300" spc="15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95260"/>
                </a:solidFill>
                <a:latin typeface="Arial"/>
                <a:cs typeface="Arial"/>
              </a:rPr>
              <a:t>efficiency.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99795" y="5436872"/>
            <a:ext cx="4596130" cy="263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700" algn="ctr">
              <a:lnSpc>
                <a:spcPct val="100000"/>
              </a:lnSpc>
              <a:spcBef>
                <a:spcPts val="95"/>
              </a:spcBef>
            </a:pPr>
            <a:r>
              <a:rPr sz="3600" b="1" spc="90" dirty="0">
                <a:solidFill>
                  <a:srgbClr val="1C2636"/>
                </a:solidFill>
                <a:latin typeface="Arial"/>
                <a:cs typeface="Arial"/>
              </a:rPr>
              <a:t>Marketing</a:t>
            </a:r>
            <a:r>
              <a:rPr sz="3600" b="1" dirty="0">
                <a:solidFill>
                  <a:srgbClr val="1C2636"/>
                </a:solidFill>
                <a:latin typeface="Arial"/>
                <a:cs typeface="Arial"/>
              </a:rPr>
              <a:t> </a:t>
            </a:r>
            <a:r>
              <a:rPr sz="3600" b="1" spc="160" dirty="0">
                <a:solidFill>
                  <a:srgbClr val="1C2636"/>
                </a:solidFill>
                <a:latin typeface="Arial"/>
                <a:cs typeface="Arial"/>
              </a:rPr>
              <a:t>Impact</a:t>
            </a:r>
            <a:endParaRPr sz="3600">
              <a:latin typeface="Arial"/>
              <a:cs typeface="Arial"/>
            </a:endParaRPr>
          </a:p>
          <a:p>
            <a:pPr marL="12700" marR="5080" indent="-635" algn="ctr">
              <a:lnSpc>
                <a:spcPct val="128800"/>
              </a:lnSpc>
              <a:spcBef>
                <a:spcPts val="2014"/>
              </a:spcBef>
            </a:pP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Assess</a:t>
            </a:r>
            <a:r>
              <a:rPr sz="2300" spc="229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95260"/>
                </a:solidFill>
                <a:latin typeface="Arial"/>
                <a:cs typeface="Arial"/>
              </a:rPr>
              <a:t>the</a:t>
            </a:r>
            <a:r>
              <a:rPr sz="2300" spc="16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95260"/>
                </a:solidFill>
                <a:latin typeface="Arial"/>
                <a:cs typeface="Arial"/>
              </a:rPr>
              <a:t>direct</a:t>
            </a:r>
            <a:r>
              <a:rPr sz="2300" spc="6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impact</a:t>
            </a:r>
            <a:r>
              <a:rPr sz="2300" spc="204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95260"/>
                </a:solidFill>
                <a:latin typeface="Arial"/>
                <a:cs typeface="Arial"/>
              </a:rPr>
              <a:t>of </a:t>
            </a:r>
            <a:r>
              <a:rPr sz="2300" spc="50" dirty="0">
                <a:solidFill>
                  <a:srgbClr val="495260"/>
                </a:solidFill>
                <a:latin typeface="Arial"/>
                <a:cs typeface="Arial"/>
              </a:rPr>
              <a:t>marketing</a:t>
            </a:r>
            <a:r>
              <a:rPr sz="2300" spc="130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campaigns</a:t>
            </a:r>
            <a:r>
              <a:rPr sz="2300" spc="29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and</a:t>
            </a:r>
            <a:r>
              <a:rPr sz="2300" spc="8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95260"/>
                </a:solidFill>
                <a:latin typeface="Arial"/>
                <a:cs typeface="Arial"/>
              </a:rPr>
              <a:t>coupon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utilization</a:t>
            </a:r>
            <a:r>
              <a:rPr sz="2300" spc="28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495260"/>
                </a:solidFill>
                <a:latin typeface="Arial"/>
                <a:cs typeface="Arial"/>
              </a:rPr>
              <a:t>on</a:t>
            </a:r>
            <a:r>
              <a:rPr sz="2300" spc="5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95260"/>
                </a:solidFill>
                <a:latin typeface="Arial"/>
                <a:cs typeface="Arial"/>
              </a:rPr>
              <a:t>customer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engagement</a:t>
            </a:r>
            <a:r>
              <a:rPr sz="2300" spc="52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95260"/>
                </a:solidFill>
                <a:latin typeface="Arial"/>
                <a:cs typeface="Arial"/>
              </a:rPr>
              <a:t>and</a:t>
            </a:r>
            <a:r>
              <a:rPr sz="2300" spc="225" dirty="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95260"/>
                </a:solidFill>
                <a:latin typeface="Arial"/>
                <a:cs typeface="Arial"/>
              </a:rPr>
              <a:t>retention.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8495" y="1228580"/>
            <a:ext cx="377540" cy="535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7566" y="3748576"/>
            <a:ext cx="14724093" cy="8032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3297" y="4929823"/>
            <a:ext cx="14409480" cy="803247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21272" y="1003256"/>
            <a:ext cx="436245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434" dirty="0">
                <a:solidFill>
                  <a:srgbClr val="0E1626"/>
                </a:solidFill>
              </a:rPr>
              <a:t>Understandin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93486" y="1003256"/>
            <a:ext cx="646811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385" dirty="0">
                <a:solidFill>
                  <a:srgbClr val="0E1626"/>
                </a:solidFill>
                <a:latin typeface="Arial"/>
                <a:cs typeface="Arial"/>
              </a:rPr>
              <a:t>Orders</a:t>
            </a:r>
            <a:r>
              <a:rPr sz="4450" b="1" spc="33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4450" b="1" spc="270" dirty="0">
                <a:solidFill>
                  <a:srgbClr val="F07E1C"/>
                </a:solidFill>
                <a:latin typeface="Arial"/>
                <a:cs typeface="Arial"/>
              </a:rPr>
              <a:t>Across</a:t>
            </a:r>
            <a:r>
              <a:rPr sz="4450" b="1" spc="240" dirty="0">
                <a:solidFill>
                  <a:srgbClr val="F07E1C"/>
                </a:solidFill>
                <a:latin typeface="Arial"/>
                <a:cs typeface="Arial"/>
              </a:rPr>
              <a:t> </a:t>
            </a:r>
            <a:r>
              <a:rPr sz="4450" b="1" spc="285" dirty="0">
                <a:solidFill>
                  <a:srgbClr val="F07E1C"/>
                </a:solidFill>
                <a:latin typeface="Arial"/>
                <a:cs typeface="Arial"/>
              </a:rPr>
              <a:t>Cities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8815" y="3952438"/>
            <a:ext cx="1510030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80" dirty="0">
                <a:solidFill>
                  <a:srgbClr val="4D5664"/>
                </a:solidFill>
                <a:latin typeface="Arial"/>
                <a:cs typeface="Arial"/>
              </a:rPr>
              <a:t>Hyderabad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88931" y="5133685"/>
            <a:ext cx="1391920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-10" dirty="0">
                <a:solidFill>
                  <a:srgbClr val="4D5664"/>
                </a:solidFill>
                <a:latin typeface="Arial"/>
                <a:cs typeface="Arial"/>
              </a:rPr>
              <a:t>Bangalore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0423" y="6732306"/>
            <a:ext cx="3267075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b="1" i="1" spc="-215" dirty="0">
                <a:solidFill>
                  <a:srgbClr val="F07E1C"/>
                </a:solidFill>
                <a:latin typeface="Arial"/>
                <a:cs typeface="Arial"/>
              </a:rPr>
              <a:t>-</a:t>
            </a:r>
            <a:r>
              <a:rPr sz="2750" b="1" i="1" spc="-20" dirty="0">
                <a:solidFill>
                  <a:srgbClr val="F07E1C"/>
                </a:solidFill>
                <a:latin typeface="Arial"/>
                <a:cs typeface="Arial"/>
              </a:rPr>
              <a:t>'f</a:t>
            </a:r>
            <a:r>
              <a:rPr sz="2750" b="1" i="1" spc="35" dirty="0">
                <a:solidFill>
                  <a:srgbClr val="F07E1C"/>
                </a:solidFill>
                <a:latin typeface="Arial"/>
                <a:cs typeface="Arial"/>
              </a:rPr>
              <a:t> </a:t>
            </a:r>
            <a:r>
              <a:rPr sz="2600" b="1" spc="85" dirty="0">
                <a:solidFill>
                  <a:srgbClr val="F07E1C"/>
                </a:solidFill>
                <a:latin typeface="Arial"/>
                <a:cs typeface="Arial"/>
              </a:rPr>
              <a:t>Hyderabad</a:t>
            </a:r>
            <a:r>
              <a:rPr sz="2600" b="1" spc="-35" dirty="0">
                <a:solidFill>
                  <a:srgbClr val="F07E1C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07E1C"/>
                </a:solidFill>
                <a:latin typeface="Arial"/>
                <a:cs typeface="Arial"/>
              </a:rPr>
              <a:t>Leads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0530" y="7401678"/>
            <a:ext cx="7713345" cy="797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 marR="5080" indent="-3810">
              <a:lnSpc>
                <a:spcPct val="126600"/>
              </a:lnSpc>
              <a:spcBef>
                <a:spcPts val="95"/>
              </a:spcBef>
            </a:pP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Shows</a:t>
            </a:r>
            <a:r>
              <a:rPr sz="2000" spc="26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stronger</a:t>
            </a:r>
            <a:r>
              <a:rPr sz="2000" spc="31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customer</a:t>
            </a:r>
            <a:r>
              <a:rPr sz="2000" spc="38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demand,</a:t>
            </a:r>
            <a:r>
              <a:rPr sz="2000" spc="42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better</a:t>
            </a:r>
            <a:r>
              <a:rPr sz="2000" spc="24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engagement,</a:t>
            </a:r>
            <a:r>
              <a:rPr sz="2000" spc="-5" dirty="0">
                <a:solidFill>
                  <a:srgbClr val="4D566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or</a:t>
            </a:r>
            <a:r>
              <a:rPr sz="2000" spc="39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D5664"/>
                </a:solidFill>
                <a:latin typeface="Arial"/>
                <a:cs typeface="Arial"/>
              </a:rPr>
              <a:t>higher </a:t>
            </a:r>
            <a:r>
              <a:rPr sz="2000" spc="65" dirty="0">
                <a:solidFill>
                  <a:srgbClr val="4D5664"/>
                </a:solidFill>
                <a:latin typeface="Arial"/>
                <a:cs typeface="Arial"/>
              </a:rPr>
              <a:t>order</a:t>
            </a:r>
            <a:r>
              <a:rPr sz="2000" spc="25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frequency.</a:t>
            </a:r>
            <a:r>
              <a:rPr sz="2000" spc="36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Currently</a:t>
            </a:r>
            <a:r>
              <a:rPr sz="2000" spc="42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generating</a:t>
            </a:r>
            <a:r>
              <a:rPr sz="2000" spc="42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the</a:t>
            </a:r>
            <a:r>
              <a:rPr sz="2000" spc="16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highest</a:t>
            </a:r>
            <a:r>
              <a:rPr sz="2000" spc="27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D5664"/>
                </a:solidFill>
                <a:latin typeface="Arial"/>
                <a:cs typeface="Arial"/>
              </a:rPr>
              <a:t>volume.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72746" y="6748056"/>
            <a:ext cx="369633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5930" algn="l"/>
              </a:tabLst>
            </a:pPr>
            <a:r>
              <a:rPr sz="2200" b="1" spc="25" dirty="0">
                <a:solidFill>
                  <a:srgbClr val="1D2636"/>
                </a:solidFill>
                <a:latin typeface="Times New Roman"/>
                <a:cs typeface="Times New Roman"/>
              </a:rPr>
              <a:t>N</a:t>
            </a:r>
            <a:r>
              <a:rPr sz="2200" b="1" dirty="0">
                <a:solidFill>
                  <a:srgbClr val="1D2636"/>
                </a:solidFill>
                <a:latin typeface="Times New Roman"/>
                <a:cs typeface="Times New Roman"/>
              </a:rPr>
              <a:t>	</a:t>
            </a:r>
            <a:r>
              <a:rPr sz="2600" b="1" dirty="0">
                <a:solidFill>
                  <a:srgbClr val="1D2636"/>
                </a:solidFill>
                <a:latin typeface="Arial"/>
                <a:cs typeface="Arial"/>
              </a:rPr>
              <a:t>Bangalore</a:t>
            </a:r>
            <a:r>
              <a:rPr sz="2600" b="1" spc="360" dirty="0">
                <a:solidFill>
                  <a:srgbClr val="1D2636"/>
                </a:solidFill>
                <a:latin typeface="Arial"/>
                <a:cs typeface="Arial"/>
              </a:rPr>
              <a:t> </a:t>
            </a:r>
            <a:r>
              <a:rPr sz="2600" b="1" spc="45" dirty="0">
                <a:solidFill>
                  <a:srgbClr val="1D2636"/>
                </a:solidFill>
                <a:latin typeface="Arial"/>
                <a:cs typeface="Arial"/>
              </a:rPr>
              <a:t>Potential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80396" y="7401678"/>
            <a:ext cx="7802880" cy="1214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 indent="-3175">
              <a:lnSpc>
                <a:spcPct val="126600"/>
              </a:lnSpc>
              <a:spcBef>
                <a:spcPts val="95"/>
              </a:spcBef>
            </a:pP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Slightly</a:t>
            </a:r>
            <a:r>
              <a:rPr sz="2000" spc="37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D5664"/>
                </a:solidFill>
                <a:latin typeface="Arial"/>
                <a:cs typeface="Arial"/>
              </a:rPr>
              <a:t>lower</a:t>
            </a:r>
            <a:r>
              <a:rPr sz="2000" spc="30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volume</a:t>
            </a:r>
            <a:r>
              <a:rPr sz="2000" spc="28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4D5664"/>
                </a:solidFill>
                <a:latin typeface="Arial"/>
                <a:cs typeface="Arial"/>
              </a:rPr>
              <a:t>but</a:t>
            </a:r>
            <a:r>
              <a:rPr sz="2000" spc="19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highly</a:t>
            </a:r>
            <a:r>
              <a:rPr sz="2000" spc="31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competitive.</a:t>
            </a:r>
            <a:r>
              <a:rPr sz="2000" spc="-25" dirty="0">
                <a:solidFill>
                  <a:srgbClr val="4D566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The</a:t>
            </a:r>
            <a:r>
              <a:rPr sz="2000" spc="22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narrow</a:t>
            </a:r>
            <a:r>
              <a:rPr sz="2000" spc="40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35" dirty="0">
                <a:solidFill>
                  <a:srgbClr val="4D5664"/>
                </a:solidFill>
                <a:latin typeface="Arial"/>
                <a:cs typeface="Arial"/>
              </a:rPr>
              <a:t>gap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indicates</a:t>
            </a:r>
            <a:r>
              <a:rPr sz="2000" spc="23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90" dirty="0">
                <a:solidFill>
                  <a:srgbClr val="4D5664"/>
                </a:solidFill>
                <a:latin typeface="Arial"/>
                <a:cs typeface="Arial"/>
              </a:rPr>
              <a:t>both</a:t>
            </a:r>
            <a:r>
              <a:rPr sz="2000" spc="7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are</a:t>
            </a:r>
            <a:r>
              <a:rPr sz="2000" spc="135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D5664"/>
                </a:solidFill>
                <a:latin typeface="Arial"/>
                <a:cs typeface="Arial"/>
              </a:rPr>
              <a:t>high-</a:t>
            </a:r>
            <a:r>
              <a:rPr sz="2000" spc="70" dirty="0">
                <a:solidFill>
                  <a:srgbClr val="4D5664"/>
                </a:solidFill>
                <a:latin typeface="Arial"/>
                <a:cs typeface="Arial"/>
              </a:rPr>
              <a:t>performing</a:t>
            </a:r>
            <a:r>
              <a:rPr sz="2000" spc="204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markets</a:t>
            </a:r>
            <a:r>
              <a:rPr sz="2000" spc="26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D5664"/>
                </a:solidFill>
                <a:latin typeface="Arial"/>
                <a:cs typeface="Arial"/>
              </a:rPr>
              <a:t>with</a:t>
            </a:r>
            <a:r>
              <a:rPr sz="2000" spc="1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D5664"/>
                </a:solidFill>
                <a:latin typeface="Arial"/>
                <a:cs typeface="Arial"/>
              </a:rPr>
              <a:t>immense</a:t>
            </a:r>
            <a:r>
              <a:rPr sz="2000" spc="240" dirty="0">
                <a:solidFill>
                  <a:srgbClr val="4D5664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rgbClr val="4D5664"/>
                </a:solidFill>
                <a:latin typeface="Arial"/>
                <a:cs typeface="Arial"/>
              </a:rPr>
              <a:t>growth</a:t>
            </a:r>
            <a:endParaRPr sz="20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885"/>
              </a:spcBef>
            </a:pPr>
            <a:r>
              <a:rPr sz="2000" spc="-10" dirty="0">
                <a:solidFill>
                  <a:srgbClr val="4D5664"/>
                </a:solidFill>
                <a:latin typeface="Arial"/>
                <a:cs typeface="Arial"/>
              </a:rPr>
              <a:t>potential.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6173" y="897836"/>
            <a:ext cx="361810" cy="535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1745" y="897836"/>
            <a:ext cx="361810" cy="535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7682" y="2126330"/>
            <a:ext cx="6308078" cy="63314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28496" y="4221075"/>
            <a:ext cx="424733" cy="425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28496" y="5071573"/>
            <a:ext cx="440464" cy="4252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28496" y="5906320"/>
            <a:ext cx="424733" cy="42524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67448" y="8914561"/>
            <a:ext cx="0" cy="1527810"/>
          </a:xfrm>
          <a:custGeom>
            <a:avLst/>
            <a:gdLst/>
            <a:ahLst/>
            <a:cxnLst/>
            <a:rect l="l" t="t" r="r" b="b"/>
            <a:pathLst>
              <a:path h="1527809">
                <a:moveTo>
                  <a:pt x="0" y="15277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29138" y="672511"/>
            <a:ext cx="217805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280" dirty="0">
                <a:solidFill>
                  <a:srgbClr val="0E1626"/>
                </a:solidFill>
              </a:rPr>
              <a:t>Deliver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666310" y="672511"/>
            <a:ext cx="478091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250315" algn="l"/>
              </a:tabLst>
            </a:pPr>
            <a:r>
              <a:rPr sz="4450" b="1" spc="160" dirty="0">
                <a:solidFill>
                  <a:srgbClr val="0E1626"/>
                </a:solidFill>
                <a:latin typeface="Arial"/>
                <a:cs typeface="Arial"/>
              </a:rPr>
              <a:t>Per</a:t>
            </a:r>
            <a:r>
              <a:rPr sz="4450" b="1" dirty="0">
                <a:solidFill>
                  <a:srgbClr val="0E1626"/>
                </a:solidFill>
                <a:latin typeface="Arial"/>
                <a:cs typeface="Arial"/>
              </a:rPr>
              <a:t>	</a:t>
            </a:r>
            <a:r>
              <a:rPr sz="4450" b="1" spc="605" dirty="0">
                <a:solidFill>
                  <a:srgbClr val="0E1626"/>
                </a:solidFill>
                <a:latin typeface="Arial"/>
                <a:cs typeface="Arial"/>
              </a:rPr>
              <a:t>ormance</a:t>
            </a:r>
            <a:r>
              <a:rPr sz="4450" b="1" spc="25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4450" b="1" spc="570" dirty="0">
                <a:solidFill>
                  <a:srgbClr val="0E1626"/>
                </a:solidFill>
                <a:latin typeface="Arial"/>
                <a:cs typeface="Arial"/>
              </a:rPr>
              <a:t>b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51883" y="672511"/>
            <a:ext cx="269303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325" dirty="0">
                <a:solidFill>
                  <a:srgbClr val="F27E1C"/>
                </a:solidFill>
                <a:latin typeface="Arial"/>
                <a:cs typeface="Arial"/>
              </a:rPr>
              <a:t>Plat</a:t>
            </a:r>
            <a:r>
              <a:rPr sz="4450" b="1" spc="515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4450" b="1" spc="415" dirty="0">
                <a:solidFill>
                  <a:srgbClr val="F27E1C"/>
                </a:solidFill>
                <a:latin typeface="Arial"/>
                <a:cs typeface="Arial"/>
              </a:rPr>
              <a:t>orm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59523" y="4224125"/>
            <a:ext cx="2679700" cy="2060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2300" spc="70" dirty="0">
                <a:solidFill>
                  <a:srgbClr val="465262"/>
                </a:solidFill>
                <a:latin typeface="Arial"/>
                <a:cs typeface="Arial"/>
              </a:rPr>
              <a:t>Android </a:t>
            </a:r>
            <a:r>
              <a:rPr sz="2300" spc="-10" dirty="0">
                <a:solidFill>
                  <a:srgbClr val="465262"/>
                </a:solidFill>
                <a:latin typeface="Arial"/>
                <a:cs typeface="Arial"/>
              </a:rPr>
              <a:t>(Dominant)</a:t>
            </a:r>
            <a:endParaRPr sz="2300">
              <a:latin typeface="Arial"/>
              <a:cs typeface="Arial"/>
            </a:endParaRPr>
          </a:p>
          <a:p>
            <a:pPr marL="12700" marR="441959">
              <a:lnSpc>
                <a:spcPts val="6700"/>
              </a:lnSpc>
              <a:spcBef>
                <a:spcPts val="550"/>
              </a:spcBef>
            </a:pP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iOS</a:t>
            </a:r>
            <a:r>
              <a:rPr sz="2300" spc="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65262"/>
                </a:solidFill>
                <a:latin typeface="Arial"/>
                <a:cs typeface="Arial"/>
              </a:rPr>
              <a:t>(Significant)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Web</a:t>
            </a:r>
            <a:r>
              <a:rPr sz="2300" spc="19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(Very</a:t>
            </a:r>
            <a:r>
              <a:rPr sz="2300" spc="1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65262"/>
                </a:solidFill>
                <a:latin typeface="Arial"/>
                <a:cs typeface="Arial"/>
              </a:rPr>
              <a:t>Low)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8484" y="8863722"/>
            <a:ext cx="17564100" cy="12090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48895" marR="5080" indent="-36830">
              <a:lnSpc>
                <a:spcPct val="107600"/>
              </a:lnSpc>
              <a:spcBef>
                <a:spcPts val="505"/>
              </a:spcBef>
            </a:pPr>
            <a:r>
              <a:rPr sz="4450" spc="-565" dirty="0">
                <a:solidFill>
                  <a:srgbClr val="F27E1C"/>
                </a:solidFill>
                <a:latin typeface="Arial"/>
                <a:cs typeface="Arial"/>
              </a:rPr>
              <a:t>□</a:t>
            </a:r>
            <a:r>
              <a:rPr sz="4450" spc="-50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2300" spc="90" dirty="0">
                <a:solidFill>
                  <a:srgbClr val="465262"/>
                </a:solidFill>
                <a:latin typeface="Arial"/>
                <a:cs typeface="Arial"/>
              </a:rPr>
              <a:t>Mobile-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First</a:t>
            </a:r>
            <a:r>
              <a:rPr sz="2300" spc="15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Landscape:</a:t>
            </a:r>
            <a:r>
              <a:rPr sz="2300" spc="16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The</a:t>
            </a:r>
            <a:r>
              <a:rPr sz="2300" spc="3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same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 pattern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emerges</a:t>
            </a:r>
            <a:r>
              <a:rPr sz="2300" spc="1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in</a:t>
            </a:r>
            <a:r>
              <a:rPr sz="2300" spc="1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65262"/>
                </a:solidFill>
                <a:latin typeface="Arial"/>
                <a:cs typeface="Arial"/>
              </a:rPr>
              <a:t>both</a:t>
            </a:r>
            <a:r>
              <a:rPr sz="2300" spc="3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465262"/>
                </a:solidFill>
                <a:latin typeface="Arial"/>
                <a:cs typeface="Arial"/>
              </a:rPr>
              <a:t>cities.</a:t>
            </a:r>
            <a:r>
              <a:rPr sz="2300" spc="-10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65262"/>
                </a:solidFill>
                <a:latin typeface="Arial"/>
                <a:cs typeface="Arial"/>
              </a:rPr>
              <a:t>Most</a:t>
            </a:r>
            <a:r>
              <a:rPr sz="2300" spc="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65262"/>
                </a:solidFill>
                <a:latin typeface="Arial"/>
                <a:cs typeface="Arial"/>
              </a:rPr>
              <a:t>successful</a:t>
            </a:r>
            <a:r>
              <a:rPr sz="2300" spc="14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deliveries</a:t>
            </a:r>
            <a:r>
              <a:rPr sz="2300" spc="1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are</a:t>
            </a:r>
            <a:r>
              <a:rPr sz="2300" spc="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driven</a:t>
            </a:r>
            <a:r>
              <a:rPr sz="2300" spc="8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65262"/>
                </a:solidFill>
                <a:latin typeface="Arial"/>
                <a:cs typeface="Arial"/>
              </a:rPr>
              <a:t>by</a:t>
            </a:r>
            <a:r>
              <a:rPr sz="2300" spc="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65262"/>
                </a:solidFill>
                <a:latin typeface="Arial"/>
                <a:cs typeface="Arial"/>
              </a:rPr>
              <a:t>mobile</a:t>
            </a:r>
            <a:r>
              <a:rPr sz="2300" spc="4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platforms,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heavily</a:t>
            </a:r>
            <a:r>
              <a:rPr sz="2300" spc="9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465262"/>
                </a:solidFill>
                <a:latin typeface="Arial"/>
                <a:cs typeface="Arial"/>
              </a:rPr>
              <a:t>skewed</a:t>
            </a:r>
            <a:r>
              <a:rPr sz="2300" spc="3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towards</a:t>
            </a:r>
            <a:r>
              <a:rPr sz="2300" spc="16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Android.</a:t>
            </a:r>
            <a:r>
              <a:rPr sz="2300" spc="4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Web-based</a:t>
            </a:r>
            <a:r>
              <a:rPr sz="2300" spc="1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orders</a:t>
            </a:r>
            <a:r>
              <a:rPr sz="2300" spc="5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contribute</a:t>
            </a:r>
            <a:r>
              <a:rPr sz="2300" spc="19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465262"/>
                </a:solidFill>
                <a:latin typeface="Arial"/>
                <a:cs typeface="Arial"/>
              </a:rPr>
              <a:t>very</a:t>
            </a:r>
            <a:r>
              <a:rPr sz="2300" spc="1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95" dirty="0">
                <a:solidFill>
                  <a:srgbClr val="465262"/>
                </a:solidFill>
                <a:latin typeface="Arial"/>
                <a:cs typeface="Arial"/>
              </a:rPr>
              <a:t>little</a:t>
            </a:r>
            <a:r>
              <a:rPr sz="2300" spc="-1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140" dirty="0">
                <a:solidFill>
                  <a:srgbClr val="465262"/>
                </a:solidFill>
                <a:latin typeface="Arial"/>
                <a:cs typeface="Arial"/>
              </a:rPr>
              <a:t>to</a:t>
            </a:r>
            <a:r>
              <a:rPr sz="2300" spc="-10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90" dirty="0">
                <a:solidFill>
                  <a:srgbClr val="465262"/>
                </a:solidFill>
                <a:latin typeface="Arial"/>
                <a:cs typeface="Arial"/>
              </a:rPr>
              <a:t>the</a:t>
            </a:r>
            <a:r>
              <a:rPr sz="2300" spc="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65262"/>
                </a:solidFill>
                <a:latin typeface="Arial"/>
                <a:cs typeface="Arial"/>
              </a:rPr>
              <a:t>overall</a:t>
            </a:r>
            <a:r>
              <a:rPr sz="2300" spc="1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90" dirty="0">
                <a:solidFill>
                  <a:srgbClr val="465262"/>
                </a:solidFill>
                <a:latin typeface="Arial"/>
                <a:cs typeface="Arial"/>
              </a:rPr>
              <a:t>fulfillment</a:t>
            </a:r>
            <a:r>
              <a:rPr sz="2300" spc="23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65262"/>
                </a:solidFill>
                <a:latin typeface="Arial"/>
                <a:cs typeface="Arial"/>
              </a:rPr>
              <a:t>volume.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5664" y="0"/>
            <a:ext cx="204501" cy="6615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161" y="2898076"/>
            <a:ext cx="17933194" cy="428398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67448" y="9639059"/>
            <a:ext cx="0" cy="1527810"/>
          </a:xfrm>
          <a:custGeom>
            <a:avLst/>
            <a:gdLst/>
            <a:ahLst/>
            <a:cxnLst/>
            <a:rect l="l" t="t" r="r" b="b"/>
            <a:pathLst>
              <a:path h="1527809">
                <a:moveTo>
                  <a:pt x="0" y="15277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29138" y="-51989"/>
            <a:ext cx="510857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445" dirty="0">
                <a:solidFill>
                  <a:srgbClr val="0E1626"/>
                </a:solidFill>
              </a:rPr>
              <a:t>Revenue</a:t>
            </a:r>
            <a:r>
              <a:rPr spc="105" dirty="0">
                <a:solidFill>
                  <a:srgbClr val="0E1626"/>
                </a:solidFill>
              </a:rPr>
              <a:t> </a:t>
            </a:r>
            <a:r>
              <a:rPr spc="330" dirty="0">
                <a:solidFill>
                  <a:srgbClr val="0E1626"/>
                </a:solidFill>
              </a:rPr>
              <a:t>Trends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09318" y="-51989"/>
            <a:ext cx="152463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445" dirty="0">
                <a:solidFill>
                  <a:srgbClr val="F2801C"/>
                </a:solidFill>
                <a:latin typeface="Arial"/>
                <a:cs typeface="Arial"/>
              </a:rPr>
              <a:t>2025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942" y="2310504"/>
            <a:ext cx="806450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spc="-195" dirty="0">
                <a:solidFill>
                  <a:srgbClr val="647085"/>
                </a:solidFill>
                <a:latin typeface="Courier New"/>
                <a:cs typeface="Courier New"/>
              </a:rPr>
              <a:t>f16L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942" y="4082375"/>
            <a:ext cx="806450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spc="-195" dirty="0">
                <a:solidFill>
                  <a:srgbClr val="647085"/>
                </a:solidFill>
                <a:latin typeface="Courier New"/>
                <a:cs typeface="Courier New"/>
              </a:rPr>
              <a:t>f14L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673" y="5846371"/>
            <a:ext cx="788670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spc="-229" dirty="0">
                <a:solidFill>
                  <a:srgbClr val="647085"/>
                </a:solidFill>
                <a:latin typeface="Courier New"/>
                <a:cs typeface="Courier New"/>
              </a:rPr>
              <a:t>f12L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942" y="7557279"/>
            <a:ext cx="1339850" cy="10464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900" spc="-20" dirty="0">
                <a:solidFill>
                  <a:srgbClr val="647085"/>
                </a:solidFill>
                <a:latin typeface="Courier New"/>
                <a:cs typeface="Courier New"/>
              </a:rPr>
              <a:t>f10L</a:t>
            </a:r>
            <a:endParaRPr sz="2900">
              <a:latin typeface="Courier New"/>
              <a:cs typeface="Courier New"/>
            </a:endParaRPr>
          </a:p>
          <a:p>
            <a:pPr marL="765810">
              <a:lnSpc>
                <a:spcPct val="100000"/>
              </a:lnSpc>
              <a:spcBef>
                <a:spcPts val="464"/>
              </a:spcBef>
            </a:pPr>
            <a:r>
              <a:rPr sz="3050" spc="-395" dirty="0">
                <a:solidFill>
                  <a:srgbClr val="647085"/>
                </a:solidFill>
                <a:latin typeface="Courier New"/>
                <a:cs typeface="Courier New"/>
              </a:rPr>
              <a:t>Jan</a:t>
            </a:r>
            <a:endParaRPr sz="30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91347" y="8185239"/>
            <a:ext cx="53784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-25" dirty="0">
                <a:solidFill>
                  <a:srgbClr val="647085"/>
                </a:solidFill>
                <a:latin typeface="Arial"/>
                <a:cs typeface="Arial"/>
              </a:rPr>
              <a:t>Apr</a:t>
            </a:r>
            <a:endParaRPr sz="2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61173" y="8177364"/>
            <a:ext cx="219964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50" dirty="0">
                <a:solidFill>
                  <a:srgbClr val="647085"/>
                </a:solidFill>
                <a:latin typeface="Arial"/>
                <a:cs typeface="Arial"/>
              </a:rPr>
              <a:t>May-</a:t>
            </a:r>
            <a:r>
              <a:rPr sz="2550" spc="55" dirty="0">
                <a:solidFill>
                  <a:srgbClr val="647085"/>
                </a:solidFill>
                <a:latin typeface="Arial"/>
                <a:cs typeface="Arial"/>
              </a:rPr>
              <a:t>Aug</a:t>
            </a:r>
            <a:r>
              <a:rPr sz="2550" spc="-40" dirty="0">
                <a:solidFill>
                  <a:srgbClr val="647085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647085"/>
                </a:solidFill>
                <a:latin typeface="Arial"/>
                <a:cs typeface="Arial"/>
              </a:rPr>
              <a:t>Peak</a:t>
            </a:r>
            <a:endParaRPr sz="2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44167" y="8185239"/>
            <a:ext cx="63373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50" dirty="0">
                <a:solidFill>
                  <a:srgbClr val="647085"/>
                </a:solidFill>
                <a:latin typeface="Arial"/>
                <a:cs typeface="Arial"/>
              </a:rPr>
              <a:t>Nov</a:t>
            </a:r>
            <a:endParaRPr sz="2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548489" y="8185239"/>
            <a:ext cx="62801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35" dirty="0">
                <a:solidFill>
                  <a:srgbClr val="647085"/>
                </a:solidFill>
                <a:latin typeface="Arial"/>
                <a:cs typeface="Arial"/>
              </a:rPr>
              <a:t>Dec</a:t>
            </a:r>
            <a:endParaRPr sz="2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3619" y="9857885"/>
            <a:ext cx="17364710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30300"/>
              </a:lnSpc>
              <a:spcBef>
                <a:spcPts val="100"/>
              </a:spcBef>
            </a:pPr>
            <a:r>
              <a:rPr sz="2150" b="1" dirty="0">
                <a:solidFill>
                  <a:srgbClr val="465262"/>
                </a:solidFill>
                <a:latin typeface="Arial"/>
                <a:cs typeface="Arial"/>
              </a:rPr>
              <a:t>Consistent</a:t>
            </a:r>
            <a:r>
              <a:rPr sz="2150" b="1" spc="18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150" b="1" spc="70" dirty="0">
                <a:solidFill>
                  <a:srgbClr val="465262"/>
                </a:solidFill>
                <a:latin typeface="Arial"/>
                <a:cs typeface="Arial"/>
              </a:rPr>
              <a:t>Revenue:</a:t>
            </a:r>
            <a:r>
              <a:rPr sz="2150" b="1" spc="1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Stable</a:t>
            </a:r>
            <a:r>
              <a:rPr sz="2300" spc="1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at</a:t>
            </a:r>
            <a:r>
              <a:rPr sz="2300" spc="-28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465262"/>
                </a:solidFill>
                <a:latin typeface="Arial"/>
                <a:cs typeface="Arial"/>
              </a:rPr>
              <a:t>�14-</a:t>
            </a:r>
            <a:r>
              <a:rPr sz="2300" spc="-20" dirty="0">
                <a:solidFill>
                  <a:srgbClr val="465262"/>
                </a:solidFill>
                <a:latin typeface="Arial"/>
                <a:cs typeface="Arial"/>
              </a:rPr>
              <a:t>15.5</a:t>
            </a:r>
            <a:r>
              <a:rPr sz="2300" spc="14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lakh/month.</a:t>
            </a:r>
            <a:r>
              <a:rPr sz="2300" spc="114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Bangalore</a:t>
            </a:r>
            <a:r>
              <a:rPr sz="2300" spc="19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is</a:t>
            </a:r>
            <a:r>
              <a:rPr sz="2300" spc="19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65262"/>
                </a:solidFill>
                <a:latin typeface="Arial"/>
                <a:cs typeface="Arial"/>
              </a:rPr>
              <a:t>marginally</a:t>
            </a:r>
            <a:r>
              <a:rPr sz="2300" spc="1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higher.</a:t>
            </a:r>
            <a:r>
              <a:rPr sz="2300" spc="-4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150" b="1" spc="70" dirty="0">
                <a:solidFill>
                  <a:srgbClr val="465262"/>
                </a:solidFill>
                <a:latin typeface="Arial"/>
                <a:cs typeface="Arial"/>
              </a:rPr>
              <a:t>Peak</a:t>
            </a:r>
            <a:r>
              <a:rPr sz="2150" b="1" spc="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150" b="1" spc="50" dirty="0">
                <a:solidFill>
                  <a:srgbClr val="465262"/>
                </a:solidFill>
                <a:latin typeface="Arial"/>
                <a:cs typeface="Arial"/>
              </a:rPr>
              <a:t>Period:</a:t>
            </a:r>
            <a:r>
              <a:rPr sz="2150" b="1" spc="1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65262"/>
                </a:solidFill>
                <a:latin typeface="Arial"/>
                <a:cs typeface="Arial"/>
              </a:rPr>
              <a:t>May-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August</a:t>
            </a:r>
            <a:r>
              <a:rPr sz="2300" spc="34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sees</a:t>
            </a:r>
            <a:r>
              <a:rPr sz="2300" spc="8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a </a:t>
            </a:r>
            <a:r>
              <a:rPr sz="2300" spc="70" dirty="0">
                <a:solidFill>
                  <a:srgbClr val="465262"/>
                </a:solidFill>
                <a:latin typeface="Arial"/>
                <a:cs typeface="Arial"/>
              </a:rPr>
              <a:t>spike </a:t>
            </a:r>
            <a:r>
              <a:rPr sz="2300" spc="-25" dirty="0">
                <a:solidFill>
                  <a:srgbClr val="465262"/>
                </a:solidFill>
                <a:latin typeface="Arial"/>
                <a:cs typeface="Arial"/>
              </a:rPr>
              <a:t>due </a:t>
            </a:r>
            <a:r>
              <a:rPr sz="2300" spc="50" dirty="0">
                <a:solidFill>
                  <a:srgbClr val="465262"/>
                </a:solidFill>
                <a:latin typeface="Arial"/>
                <a:cs typeface="Arial"/>
              </a:rPr>
              <a:t>to</a:t>
            </a:r>
            <a:r>
              <a:rPr sz="2300" spc="2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seasonal</a:t>
            </a:r>
            <a:r>
              <a:rPr sz="2300" spc="254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demand</a:t>
            </a:r>
            <a:r>
              <a:rPr sz="2300" spc="17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and</a:t>
            </a:r>
            <a:r>
              <a:rPr sz="2300" spc="3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campaigns.</a:t>
            </a:r>
            <a:r>
              <a:rPr sz="2300" spc="21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465262"/>
                </a:solidFill>
                <a:latin typeface="Arial"/>
                <a:cs typeface="Arial"/>
              </a:rPr>
              <a:t>Drop:</a:t>
            </a:r>
            <a:r>
              <a:rPr sz="2150" b="1" spc="1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Noticeable</a:t>
            </a:r>
            <a:r>
              <a:rPr sz="2300" spc="2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decline</a:t>
            </a:r>
            <a:r>
              <a:rPr sz="2300" spc="19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in</a:t>
            </a:r>
            <a:r>
              <a:rPr sz="2300" spc="14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December</a:t>
            </a:r>
            <a:r>
              <a:rPr sz="2300" spc="43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2025.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6451" y="2252334"/>
            <a:ext cx="259559" cy="47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6335" y="7497066"/>
            <a:ext cx="180904" cy="283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6335" y="8820063"/>
            <a:ext cx="180904" cy="283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08224" y="3228828"/>
            <a:ext cx="8699169" cy="634723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262401" y="10143059"/>
            <a:ext cx="185420" cy="1149985"/>
            <a:chOff x="1262401" y="10143059"/>
            <a:chExt cx="185420" cy="114998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6334" y="10143059"/>
              <a:ext cx="180904" cy="2834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82065" y="10426557"/>
              <a:ext cx="0" cy="866775"/>
            </a:xfrm>
            <a:custGeom>
              <a:avLst/>
              <a:gdLst/>
              <a:ahLst/>
              <a:cxnLst/>
              <a:rect l="l" t="t" r="r" b="b"/>
              <a:pathLst>
                <a:path h="866775">
                  <a:moveTo>
                    <a:pt x="0" y="866247"/>
                  </a:moveTo>
                  <a:lnTo>
                    <a:pt x="0" y="0"/>
                  </a:lnTo>
                </a:path>
              </a:pathLst>
            </a:custGeom>
            <a:ln w="393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282065" y="9087811"/>
            <a:ext cx="0" cy="976630"/>
          </a:xfrm>
          <a:custGeom>
            <a:avLst/>
            <a:gdLst/>
            <a:ahLst/>
            <a:cxnLst/>
            <a:rect l="l" t="t" r="r" b="b"/>
            <a:pathLst>
              <a:path h="976629">
                <a:moveTo>
                  <a:pt x="0" y="976497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82065" y="7764814"/>
            <a:ext cx="0" cy="976630"/>
          </a:xfrm>
          <a:custGeom>
            <a:avLst/>
            <a:gdLst/>
            <a:ahLst/>
            <a:cxnLst/>
            <a:rect l="l" t="t" r="r" b="b"/>
            <a:pathLst>
              <a:path h="976629">
                <a:moveTo>
                  <a:pt x="0" y="976497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908681" y="440200"/>
            <a:ext cx="196850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50" b="0" spc="75" dirty="0">
                <a:solidFill>
                  <a:srgbClr val="EF7E1F"/>
                </a:solidFill>
                <a:latin typeface="Arial"/>
                <a:cs typeface="Arial"/>
              </a:rPr>
              <a:t>•</a:t>
            </a:r>
            <a:endParaRPr sz="4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9817" y="971758"/>
            <a:ext cx="7708265" cy="1162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850" b="1" dirty="0">
                <a:solidFill>
                  <a:srgbClr val="1C2636"/>
                </a:solidFill>
                <a:latin typeface="Arial"/>
                <a:cs typeface="Arial"/>
              </a:rPr>
              <a:t>Rain</a:t>
            </a:r>
            <a:r>
              <a:rPr sz="2850" b="1" spc="-120" dirty="0">
                <a:solidFill>
                  <a:srgbClr val="1C2636"/>
                </a:solidFill>
                <a:latin typeface="Arial"/>
                <a:cs typeface="Arial"/>
              </a:rPr>
              <a:t> </a:t>
            </a:r>
            <a:r>
              <a:rPr sz="2850" b="1" spc="60" dirty="0">
                <a:solidFill>
                  <a:srgbClr val="1C2636"/>
                </a:solidFill>
                <a:latin typeface="Arial"/>
                <a:cs typeface="Arial"/>
              </a:rPr>
              <a:t>Causes</a:t>
            </a:r>
            <a:r>
              <a:rPr sz="2850" b="1" spc="-30" dirty="0">
                <a:solidFill>
                  <a:srgbClr val="1C2636"/>
                </a:solidFill>
                <a:latin typeface="Arial"/>
                <a:cs typeface="Arial"/>
              </a:rPr>
              <a:t> </a:t>
            </a:r>
            <a:r>
              <a:rPr sz="2850" b="1" spc="50" dirty="0">
                <a:solidFill>
                  <a:srgbClr val="1C2636"/>
                </a:solidFill>
                <a:latin typeface="Arial"/>
                <a:cs typeface="Arial"/>
              </a:rPr>
              <a:t>Significant</a:t>
            </a:r>
            <a:r>
              <a:rPr sz="2850" b="1" spc="95" dirty="0">
                <a:solidFill>
                  <a:srgbClr val="1C2636"/>
                </a:solidFill>
                <a:latin typeface="Arial"/>
                <a:cs typeface="Arial"/>
              </a:rPr>
              <a:t> </a:t>
            </a:r>
            <a:r>
              <a:rPr sz="2850" b="1" spc="45" dirty="0">
                <a:solidFill>
                  <a:srgbClr val="1C2636"/>
                </a:solidFill>
                <a:latin typeface="Arial"/>
                <a:cs typeface="Arial"/>
              </a:rPr>
              <a:t>Delays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75"/>
              </a:spcBef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In</a:t>
            </a:r>
            <a:r>
              <a:rPr sz="2300" spc="1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u="sng" spc="70" dirty="0">
                <a:solidFill>
                  <a:srgbClr val="485262"/>
                </a:solidFill>
                <a:uFill>
                  <a:solidFill>
                    <a:srgbClr val="485262"/>
                  </a:solidFill>
                </a:uFill>
                <a:latin typeface="Arial"/>
                <a:cs typeface="Arial"/>
              </a:rPr>
              <a:t>both</a:t>
            </a:r>
            <a:r>
              <a:rPr sz="2300" u="none" spc="13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u="none" dirty="0">
                <a:solidFill>
                  <a:srgbClr val="485262"/>
                </a:solidFill>
                <a:latin typeface="Arial"/>
                <a:cs typeface="Arial"/>
              </a:rPr>
              <a:t>cities,</a:t>
            </a:r>
            <a:r>
              <a:rPr sz="2300" u="none" spc="13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u="none" dirty="0">
                <a:solidFill>
                  <a:srgbClr val="485262"/>
                </a:solidFill>
                <a:latin typeface="Arial"/>
                <a:cs typeface="Arial"/>
              </a:rPr>
              <a:t>active</a:t>
            </a:r>
            <a:r>
              <a:rPr sz="2300" u="none" spc="2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u="none" dirty="0">
                <a:solidFill>
                  <a:srgbClr val="485262"/>
                </a:solidFill>
                <a:latin typeface="Arial"/>
                <a:cs typeface="Arial"/>
              </a:rPr>
              <a:t>rain</a:t>
            </a:r>
            <a:r>
              <a:rPr sz="2300" u="none" spc="10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u="none" dirty="0">
                <a:solidFill>
                  <a:srgbClr val="485262"/>
                </a:solidFill>
                <a:latin typeface="Arial"/>
                <a:cs typeface="Arial"/>
              </a:rPr>
              <a:t>conditions</a:t>
            </a:r>
            <a:r>
              <a:rPr sz="2300" u="none" spc="3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u="none" dirty="0">
                <a:solidFill>
                  <a:srgbClr val="485262"/>
                </a:solidFill>
                <a:latin typeface="Arial"/>
                <a:cs typeface="Arial"/>
              </a:rPr>
              <a:t>increase</a:t>
            </a:r>
            <a:r>
              <a:rPr sz="2300" u="none" spc="30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u="none" spc="70" dirty="0">
                <a:solidFill>
                  <a:srgbClr val="485262"/>
                </a:solidFill>
                <a:latin typeface="Arial"/>
                <a:cs typeface="Arial"/>
              </a:rPr>
              <a:t>the</a:t>
            </a:r>
            <a:r>
              <a:rPr sz="2300" u="none" spc="1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u="none" spc="-10" dirty="0">
                <a:solidFill>
                  <a:srgbClr val="485262"/>
                </a:solidFill>
                <a:latin typeface="Arial"/>
                <a:cs typeface="Arial"/>
              </a:rPr>
              <a:t>average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9414" y="2216006"/>
            <a:ext cx="410908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465" dirty="0">
                <a:solidFill>
                  <a:srgbClr val="485262"/>
                </a:solidFill>
                <a:latin typeface="Arial"/>
                <a:cs typeface="Arial"/>
              </a:rPr>
              <a:t>de</a:t>
            </a:r>
            <a:r>
              <a:rPr sz="2300" spc="465" dirty="0">
                <a:solidFill>
                  <a:srgbClr val="B8702D"/>
                </a:solidFill>
                <a:latin typeface="Arial"/>
                <a:cs typeface="Arial"/>
              </a:rPr>
              <a:t>�</a:t>
            </a:r>
            <a:r>
              <a:rPr sz="2300" spc="465" dirty="0">
                <a:solidFill>
                  <a:srgbClr val="485262"/>
                </a:solidFill>
                <a:latin typeface="Arial"/>
                <a:cs typeface="Arial"/>
              </a:rPr>
              <a:t>ry</a:t>
            </a:r>
            <a:r>
              <a:rPr sz="2300" spc="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time</a:t>
            </a:r>
            <a:r>
              <a:rPr sz="2300" spc="1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85262"/>
                </a:solidFill>
                <a:latin typeface="Arial"/>
                <a:cs typeface="Arial"/>
              </a:rPr>
              <a:t>by</a:t>
            </a:r>
            <a:r>
              <a:rPr sz="2300" spc="1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85262"/>
                </a:solidFill>
                <a:latin typeface="Arial"/>
                <a:cs typeface="Arial"/>
              </a:rPr>
              <a:t>approximately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0400" y="2448332"/>
            <a:ext cx="6734175" cy="118237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245"/>
              </a:spcBef>
            </a:pPr>
            <a:r>
              <a:rPr sz="1250" b="1" i="1" spc="-25" dirty="0">
                <a:solidFill>
                  <a:srgbClr val="EF7E1F"/>
                </a:solidFill>
                <a:latin typeface="Arial"/>
                <a:cs typeface="Arial"/>
              </a:rPr>
              <a:t>Ill</a:t>
            </a:r>
            <a:endParaRPr sz="12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275"/>
              </a:spcBef>
            </a:pPr>
            <a:r>
              <a:rPr sz="2450" b="1" spc="50" dirty="0">
                <a:solidFill>
                  <a:srgbClr val="0C1526"/>
                </a:solidFill>
                <a:latin typeface="Arial"/>
                <a:cs typeface="Arial"/>
              </a:rPr>
              <a:t>8</a:t>
            </a:r>
            <a:r>
              <a:rPr sz="2450" b="1" spc="7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00" b="1" spc="75" dirty="0">
                <a:solidFill>
                  <a:srgbClr val="0C1526"/>
                </a:solidFill>
                <a:latin typeface="Arial"/>
                <a:cs typeface="Arial"/>
              </a:rPr>
              <a:t>to</a:t>
            </a:r>
            <a:r>
              <a:rPr sz="2400" b="1" spc="-11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50" b="1" spc="105" dirty="0">
                <a:solidFill>
                  <a:srgbClr val="0C1526"/>
                </a:solidFill>
                <a:latin typeface="Arial"/>
                <a:cs typeface="Arial"/>
              </a:rPr>
              <a:t>9</a:t>
            </a:r>
            <a:r>
              <a:rPr sz="2450" b="1" spc="70" dirty="0">
                <a:solidFill>
                  <a:srgbClr val="0C15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C1526"/>
                </a:solidFill>
                <a:latin typeface="Arial"/>
                <a:cs typeface="Arial"/>
              </a:rPr>
              <a:t>minutes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.</a:t>
            </a:r>
            <a:r>
              <a:rPr sz="2300" spc="1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This</a:t>
            </a:r>
            <a:r>
              <a:rPr sz="2300" spc="1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indicates</a:t>
            </a:r>
            <a:r>
              <a:rPr sz="2300" spc="2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</a:t>
            </a:r>
            <a:r>
              <a:rPr sz="2300" spc="3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common</a:t>
            </a:r>
            <a:r>
              <a:rPr sz="2300" spc="1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operational</a:t>
            </a:r>
            <a:r>
              <a:rPr sz="2300" spc="18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bottleneck.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8681" y="4598187"/>
            <a:ext cx="7887334" cy="36709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ts val="4550"/>
              </a:lnSpc>
              <a:spcBef>
                <a:spcPts val="110"/>
              </a:spcBef>
            </a:pPr>
            <a:r>
              <a:rPr sz="4050" spc="75" dirty="0">
                <a:solidFill>
                  <a:srgbClr val="EF7E1F"/>
                </a:solidFill>
                <a:latin typeface="Arial"/>
                <a:cs typeface="Arial"/>
              </a:rPr>
              <a:t>•</a:t>
            </a:r>
            <a:endParaRPr sz="4050">
              <a:latin typeface="Arial"/>
              <a:cs typeface="Arial"/>
            </a:endParaRPr>
          </a:p>
          <a:p>
            <a:pPr marL="24130">
              <a:lnSpc>
                <a:spcPts val="3110"/>
              </a:lnSpc>
            </a:pPr>
            <a:r>
              <a:rPr sz="2850" b="1" spc="114" dirty="0">
                <a:solidFill>
                  <a:srgbClr val="1C2636"/>
                </a:solidFill>
                <a:latin typeface="Arial"/>
                <a:cs typeface="Arial"/>
              </a:rPr>
              <a:t>Bangalore</a:t>
            </a:r>
            <a:r>
              <a:rPr sz="2850" b="1" spc="10" dirty="0">
                <a:solidFill>
                  <a:srgbClr val="1C2636"/>
                </a:solidFill>
                <a:latin typeface="Arial"/>
                <a:cs typeface="Arial"/>
              </a:rPr>
              <a:t> </a:t>
            </a:r>
            <a:r>
              <a:rPr sz="2850" b="1" spc="95" dirty="0">
                <a:solidFill>
                  <a:srgbClr val="1C2636"/>
                </a:solidFill>
                <a:latin typeface="Arial"/>
                <a:cs typeface="Arial"/>
              </a:rPr>
              <a:t>takes</a:t>
            </a:r>
            <a:r>
              <a:rPr sz="2850" b="1" spc="-190" dirty="0">
                <a:solidFill>
                  <a:srgbClr val="1C2636"/>
                </a:solidFill>
                <a:latin typeface="Arial"/>
                <a:cs typeface="Arial"/>
              </a:rPr>
              <a:t> </a:t>
            </a:r>
            <a:r>
              <a:rPr sz="2850" b="1" spc="55" dirty="0">
                <a:solidFill>
                  <a:srgbClr val="1C2636"/>
                </a:solidFill>
                <a:latin typeface="Arial"/>
                <a:cs typeface="Arial"/>
              </a:rPr>
              <a:t>longer</a:t>
            </a:r>
            <a:endParaRPr sz="2850">
              <a:latin typeface="Arial"/>
              <a:cs typeface="Arial"/>
            </a:endParaRPr>
          </a:p>
          <a:p>
            <a:pPr marL="30480" marR="5080" indent="-1905">
              <a:lnSpc>
                <a:spcPct val="130300"/>
              </a:lnSpc>
              <a:spcBef>
                <a:spcPts val="1875"/>
              </a:spcBef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Overall,</a:t>
            </a:r>
            <a:r>
              <a:rPr sz="2300" spc="9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Bangalore</a:t>
            </a:r>
            <a:r>
              <a:rPr sz="2300" spc="3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deliveries</a:t>
            </a:r>
            <a:r>
              <a:rPr sz="2300" spc="3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take</a:t>
            </a:r>
            <a:r>
              <a:rPr sz="2300" spc="18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longer</a:t>
            </a:r>
            <a:r>
              <a:rPr sz="2300" spc="2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than</a:t>
            </a:r>
            <a:r>
              <a:rPr sz="2300" spc="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Hyderabad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regardless</a:t>
            </a:r>
            <a:r>
              <a:rPr sz="2300" spc="3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of</a:t>
            </a:r>
            <a:r>
              <a:rPr sz="2300" spc="5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weather</a:t>
            </a:r>
            <a:r>
              <a:rPr sz="2300" spc="31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conditions.</a:t>
            </a:r>
            <a:r>
              <a:rPr sz="2300" spc="38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This</a:t>
            </a:r>
            <a:r>
              <a:rPr sz="2300" spc="2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could</a:t>
            </a:r>
            <a:r>
              <a:rPr sz="2300" spc="1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be</a:t>
            </a:r>
            <a:r>
              <a:rPr sz="2300" spc="1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85262"/>
                </a:solidFill>
                <a:latin typeface="Arial"/>
                <a:cs typeface="Arial"/>
              </a:rPr>
              <a:t>attributed </a:t>
            </a:r>
            <a:r>
              <a:rPr sz="2300" spc="-25" dirty="0">
                <a:solidFill>
                  <a:srgbClr val="485262"/>
                </a:solidFill>
                <a:latin typeface="Arial"/>
                <a:cs typeface="Arial"/>
              </a:rPr>
              <a:t>to: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30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tabLst>
                <a:tab pos="490855" algn="l"/>
              </a:tabLst>
            </a:pPr>
            <a:r>
              <a:rPr sz="1600" spc="10" dirty="0">
                <a:solidFill>
                  <a:srgbClr val="5B6067"/>
                </a:solidFill>
                <a:latin typeface="Arial"/>
                <a:cs typeface="Arial"/>
              </a:rPr>
              <a:t>o</a:t>
            </a:r>
            <a:r>
              <a:rPr sz="1600" dirty="0">
                <a:solidFill>
                  <a:srgbClr val="5B6067"/>
                </a:solidFill>
                <a:latin typeface="Arial"/>
                <a:cs typeface="Arial"/>
              </a:rPr>
              <a:t>	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Higher</a:t>
            </a:r>
            <a:r>
              <a:rPr sz="2300" spc="1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traffic </a:t>
            </a:r>
            <a:r>
              <a:rPr sz="2300" spc="40" dirty="0">
                <a:solidFill>
                  <a:srgbClr val="485262"/>
                </a:solidFill>
                <a:latin typeface="Arial"/>
                <a:cs typeface="Arial"/>
              </a:rPr>
              <a:t>density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7999" y="9216861"/>
            <a:ext cx="474154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4025" algn="l"/>
              </a:tabLst>
            </a:pPr>
            <a:r>
              <a:rPr sz="1600" dirty="0">
                <a:solidFill>
                  <a:srgbClr val="5B6067"/>
                </a:solidFill>
                <a:latin typeface="Arial"/>
                <a:cs typeface="Arial"/>
              </a:rPr>
              <a:t>o	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Larger</a:t>
            </a:r>
            <a:r>
              <a:rPr sz="2300" spc="2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geographical</a:t>
            </a:r>
            <a:r>
              <a:rPr sz="2300" spc="2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city</a:t>
            </a:r>
            <a:r>
              <a:rPr sz="2300" spc="1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85262"/>
                </a:solidFill>
                <a:latin typeface="Arial"/>
                <a:cs typeface="Arial"/>
              </a:rPr>
              <a:t>spread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7999" y="10539858"/>
            <a:ext cx="401574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2755" algn="l"/>
              </a:tabLst>
            </a:pPr>
            <a:r>
              <a:rPr sz="1600" dirty="0">
                <a:solidFill>
                  <a:srgbClr val="5B6067"/>
                </a:solidFill>
                <a:latin typeface="Arial"/>
                <a:cs typeface="Arial"/>
              </a:rPr>
              <a:t>o	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Differing</a:t>
            </a:r>
            <a:r>
              <a:rPr sz="2300" spc="4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weather</a:t>
            </a:r>
            <a:r>
              <a:rPr sz="2300" spc="4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intensity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2669" y="1228580"/>
            <a:ext cx="377540" cy="535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9445" y="1228580"/>
            <a:ext cx="377540" cy="535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35180" y="1244333"/>
            <a:ext cx="377540" cy="519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67566" y="3701326"/>
            <a:ext cx="12521775" cy="8032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67566" y="4898323"/>
            <a:ext cx="11043072" cy="7874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67566" y="6063820"/>
            <a:ext cx="5159725" cy="80324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67448" y="7339565"/>
            <a:ext cx="0" cy="1527810"/>
          </a:xfrm>
          <a:custGeom>
            <a:avLst/>
            <a:gdLst/>
            <a:ahLst/>
            <a:cxnLst/>
            <a:rect l="l" t="t" r="r" b="b"/>
            <a:pathLst>
              <a:path h="1527809">
                <a:moveTo>
                  <a:pt x="0" y="15277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47968" y="865447"/>
            <a:ext cx="17589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5" dirty="0">
                <a:solidFill>
                  <a:srgbClr val="0E1626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20266" y="1003256"/>
            <a:ext cx="250380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998980" algn="l"/>
              </a:tabLst>
            </a:pPr>
            <a:r>
              <a:rPr spc="160" dirty="0">
                <a:solidFill>
                  <a:srgbClr val="0E1626"/>
                </a:solidFill>
              </a:rPr>
              <a:t>Cam</a:t>
            </a:r>
            <a:r>
              <a:rPr dirty="0">
                <a:solidFill>
                  <a:srgbClr val="0E1626"/>
                </a:solidFill>
              </a:rPr>
              <a:t>	</a:t>
            </a:r>
            <a:r>
              <a:rPr sz="3650" spc="75" dirty="0">
                <a:solidFill>
                  <a:srgbClr val="0E1626"/>
                </a:solidFill>
              </a:rPr>
              <a:t>Cl</a:t>
            </a:r>
            <a:endParaRPr sz="3650"/>
          </a:p>
        </p:txBody>
      </p:sp>
      <p:sp>
        <p:nvSpPr>
          <p:cNvPr id="11" name="object 11"/>
          <p:cNvSpPr txBox="1"/>
          <p:nvPr/>
        </p:nvSpPr>
        <p:spPr>
          <a:xfrm>
            <a:off x="11047397" y="857574"/>
            <a:ext cx="201295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00" spc="180" dirty="0">
                <a:solidFill>
                  <a:srgbClr val="F27E1A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5433" y="1003256"/>
            <a:ext cx="768540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830705" algn="l"/>
                <a:tab pos="6776084" algn="l"/>
              </a:tabLst>
            </a:pPr>
            <a:r>
              <a:rPr sz="4450" b="1" spc="160" dirty="0">
                <a:solidFill>
                  <a:srgbClr val="0E1626"/>
                </a:solidFill>
                <a:latin typeface="Arial"/>
                <a:cs typeface="Arial"/>
              </a:rPr>
              <a:t>n</a:t>
            </a:r>
            <a:r>
              <a:rPr sz="4450" b="1" spc="44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4450" b="1" spc="160" dirty="0">
                <a:solidFill>
                  <a:srgbClr val="0E1626"/>
                </a:solidFill>
                <a:latin typeface="Arial"/>
                <a:cs typeface="Arial"/>
              </a:rPr>
              <a:t>Per</a:t>
            </a:r>
            <a:r>
              <a:rPr sz="4450" b="1" dirty="0">
                <a:solidFill>
                  <a:srgbClr val="0E1626"/>
                </a:solidFill>
                <a:latin typeface="Arial"/>
                <a:cs typeface="Arial"/>
              </a:rPr>
              <a:t>	</a:t>
            </a:r>
            <a:r>
              <a:rPr sz="4450" b="1" spc="605" dirty="0">
                <a:solidFill>
                  <a:srgbClr val="0E1626"/>
                </a:solidFill>
                <a:latin typeface="Arial"/>
                <a:cs typeface="Arial"/>
              </a:rPr>
              <a:t>ormance</a:t>
            </a:r>
            <a:r>
              <a:rPr sz="4450" b="1" spc="36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4450" b="1" spc="430" dirty="0">
                <a:solidFill>
                  <a:srgbClr val="F27E1A"/>
                </a:solidFill>
                <a:latin typeface="Arial"/>
                <a:cs typeface="Arial"/>
              </a:rPr>
              <a:t>Anal</a:t>
            </a:r>
            <a:r>
              <a:rPr sz="4450" b="1" dirty="0">
                <a:solidFill>
                  <a:srgbClr val="F27E1A"/>
                </a:solidFill>
                <a:latin typeface="Arial"/>
                <a:cs typeface="Arial"/>
              </a:rPr>
              <a:t>	</a:t>
            </a:r>
            <a:r>
              <a:rPr sz="3650" b="1" spc="360" dirty="0">
                <a:solidFill>
                  <a:srgbClr val="F27E1A"/>
                </a:solidFill>
                <a:latin typeface="Arial"/>
                <a:cs typeface="Arial"/>
              </a:rPr>
              <a:t>SIS</a:t>
            </a:r>
            <a:endParaRPr sz="3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53709" y="3885501"/>
            <a:ext cx="2541270" cy="2729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590" algn="r">
              <a:lnSpc>
                <a:spcPct val="100000"/>
              </a:lnSpc>
              <a:spcBef>
                <a:spcPts val="95"/>
              </a:spcBef>
            </a:pP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Push</a:t>
            </a:r>
            <a:r>
              <a:rPr sz="2300" spc="-10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Notifications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300">
              <a:latin typeface="Arial"/>
              <a:cs typeface="Arial"/>
            </a:endParaRPr>
          </a:p>
          <a:p>
            <a:pPr marR="27940" algn="r">
              <a:lnSpc>
                <a:spcPct val="100000"/>
              </a:lnSpc>
            </a:pP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Email</a:t>
            </a:r>
            <a:r>
              <a:rPr sz="2300" spc="-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65262"/>
                </a:solidFill>
                <a:latin typeface="Arial"/>
                <a:cs typeface="Arial"/>
              </a:rPr>
              <a:t>Campaigns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23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Popup</a:t>
            </a:r>
            <a:r>
              <a:rPr sz="2300" spc="26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25" dirty="0">
                <a:solidFill>
                  <a:srgbClr val="465262"/>
                </a:solidFill>
                <a:latin typeface="Arial"/>
                <a:cs typeface="Arial"/>
              </a:rPr>
              <a:t>Ads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2015" y="7558391"/>
            <a:ext cx="17251045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>
              <a:lnSpc>
                <a:spcPct val="130300"/>
              </a:lnSpc>
              <a:spcBef>
                <a:spcPts val="100"/>
              </a:spcBef>
            </a:pPr>
            <a:r>
              <a:rPr sz="2200" b="1" dirty="0">
                <a:solidFill>
                  <a:srgbClr val="465262"/>
                </a:solidFill>
                <a:latin typeface="Arial"/>
                <a:cs typeface="Arial"/>
              </a:rPr>
              <a:t>Key</a:t>
            </a:r>
            <a:r>
              <a:rPr sz="2200" b="1" spc="24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465262"/>
                </a:solidFill>
                <a:latin typeface="Arial"/>
                <a:cs typeface="Arial"/>
              </a:rPr>
              <a:t>Takeaway:</a:t>
            </a:r>
            <a:r>
              <a:rPr sz="2200" b="1" spc="2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Email</a:t>
            </a:r>
            <a:r>
              <a:rPr sz="2300" spc="1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and</a:t>
            </a:r>
            <a:r>
              <a:rPr sz="2300" spc="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Push</a:t>
            </a:r>
            <a:r>
              <a:rPr sz="2300" spc="15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campaigns</a:t>
            </a:r>
            <a:r>
              <a:rPr sz="2300" spc="254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prove</a:t>
            </a:r>
            <a:r>
              <a:rPr sz="2300" spc="13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65262"/>
                </a:solidFill>
                <a:latin typeface="Arial"/>
                <a:cs typeface="Arial"/>
              </a:rPr>
              <a:t>significantly</a:t>
            </a:r>
            <a:r>
              <a:rPr sz="2300" spc="204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more</a:t>
            </a:r>
            <a:r>
              <a:rPr sz="2300" spc="16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90" dirty="0">
                <a:solidFill>
                  <a:srgbClr val="465262"/>
                </a:solidFill>
                <a:latin typeface="Arial"/>
                <a:cs typeface="Arial"/>
              </a:rPr>
              <a:t>effective</a:t>
            </a:r>
            <a:r>
              <a:rPr sz="2300" spc="16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65262"/>
                </a:solidFill>
                <a:latin typeface="Arial"/>
                <a:cs typeface="Arial"/>
              </a:rPr>
              <a:t>than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Popup</a:t>
            </a:r>
            <a:r>
              <a:rPr sz="2300" spc="10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campaigns</a:t>
            </a:r>
            <a:r>
              <a:rPr sz="2300" spc="254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in</a:t>
            </a:r>
            <a:r>
              <a:rPr sz="2300" spc="24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Bangalore.</a:t>
            </a:r>
            <a:r>
              <a:rPr sz="2300" spc="114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65262"/>
                </a:solidFill>
                <a:latin typeface="Arial"/>
                <a:cs typeface="Arial"/>
              </a:rPr>
              <a:t>Meanwhile,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Push</a:t>
            </a:r>
            <a:r>
              <a:rPr sz="2300" spc="70" dirty="0">
                <a:solidFill>
                  <a:srgbClr val="465262"/>
                </a:solidFill>
                <a:latin typeface="Arial"/>
                <a:cs typeface="Arial"/>
              </a:rPr>
              <a:t> notifications</a:t>
            </a:r>
            <a:r>
              <a:rPr sz="2300" spc="24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act</a:t>
            </a:r>
            <a:r>
              <a:rPr sz="2300" spc="-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as</a:t>
            </a:r>
            <a:r>
              <a:rPr sz="2300" spc="-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90" dirty="0">
                <a:solidFill>
                  <a:srgbClr val="465262"/>
                </a:solidFill>
                <a:latin typeface="Arial"/>
                <a:cs typeface="Arial"/>
              </a:rPr>
              <a:t>the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primary</a:t>
            </a:r>
            <a:r>
              <a:rPr sz="2300" spc="4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driver</a:t>
            </a:r>
            <a:r>
              <a:rPr sz="2300" spc="16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for</a:t>
            </a:r>
            <a:r>
              <a:rPr sz="2300" spc="25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better</a:t>
            </a:r>
            <a:r>
              <a:rPr sz="2300" spc="15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user</a:t>
            </a:r>
            <a:r>
              <a:rPr sz="2300" spc="14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engagement</a:t>
            </a:r>
            <a:r>
              <a:rPr sz="2300" spc="31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in</a:t>
            </a:r>
            <a:r>
              <a:rPr sz="2300" spc="1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65262"/>
                </a:solidFill>
                <a:latin typeface="Arial"/>
                <a:cs typeface="Arial"/>
              </a:rPr>
              <a:t>Hyderabad.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2669" y="661581"/>
            <a:ext cx="377540" cy="535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9445" y="661581"/>
            <a:ext cx="377540" cy="535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22745" y="661581"/>
            <a:ext cx="377540" cy="535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29520" y="661581"/>
            <a:ext cx="377540" cy="535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69981" y="661581"/>
            <a:ext cx="361810" cy="362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38331" y="1890083"/>
            <a:ext cx="6323809" cy="63157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20612" y="4410074"/>
            <a:ext cx="440464" cy="4252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20612" y="5260572"/>
            <a:ext cx="424733" cy="42524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967448" y="8678312"/>
            <a:ext cx="0" cy="2000250"/>
          </a:xfrm>
          <a:custGeom>
            <a:avLst/>
            <a:gdLst/>
            <a:ahLst/>
            <a:cxnLst/>
            <a:rect l="l" t="t" r="r" b="b"/>
            <a:pathLst>
              <a:path h="2000250">
                <a:moveTo>
                  <a:pt x="0" y="2000245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47968" y="298449"/>
            <a:ext cx="17208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0E1626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920266" y="436257"/>
            <a:ext cx="248983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998980" algn="l"/>
              </a:tabLst>
            </a:pPr>
            <a:r>
              <a:rPr spc="65" dirty="0">
                <a:solidFill>
                  <a:srgbClr val="0E1626"/>
                </a:solidFill>
              </a:rPr>
              <a:t>Cam</a:t>
            </a:r>
            <a:r>
              <a:rPr dirty="0">
                <a:solidFill>
                  <a:srgbClr val="0E1626"/>
                </a:solidFill>
              </a:rPr>
              <a:t>	</a:t>
            </a:r>
            <a:r>
              <a:rPr sz="3650" spc="-25" dirty="0">
                <a:solidFill>
                  <a:srgbClr val="0E1626"/>
                </a:solidFill>
              </a:rPr>
              <a:t>Cl</a:t>
            </a:r>
            <a:endParaRPr sz="3650"/>
          </a:p>
        </p:txBody>
      </p:sp>
      <p:sp>
        <p:nvSpPr>
          <p:cNvPr id="13" name="object 13"/>
          <p:cNvSpPr txBox="1"/>
          <p:nvPr/>
        </p:nvSpPr>
        <p:spPr>
          <a:xfrm>
            <a:off x="8829342" y="290576"/>
            <a:ext cx="177165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00" spc="-50" dirty="0">
                <a:solidFill>
                  <a:srgbClr val="F27E1C"/>
                </a:solidFill>
                <a:latin typeface="Arial"/>
                <a:cs typeface="Arial"/>
              </a:rPr>
              <a:t>•</a:t>
            </a:r>
            <a:endParaRPr sz="3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5433" y="436257"/>
            <a:ext cx="49644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487295" algn="l"/>
                <a:tab pos="4474210" algn="l"/>
              </a:tabLst>
            </a:pPr>
            <a:r>
              <a:rPr sz="4450" b="1" spc="80" dirty="0">
                <a:solidFill>
                  <a:srgbClr val="0E1626"/>
                </a:solidFill>
                <a:latin typeface="Arial"/>
                <a:cs typeface="Arial"/>
              </a:rPr>
              <a:t>n</a:t>
            </a:r>
            <a:r>
              <a:rPr sz="4450" b="1" spc="575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4450" b="1" spc="70" dirty="0">
                <a:solidFill>
                  <a:srgbClr val="0E1626"/>
                </a:solidFill>
                <a:latin typeface="Arial"/>
                <a:cs typeface="Arial"/>
              </a:rPr>
              <a:t>vs</a:t>
            </a:r>
            <a:r>
              <a:rPr sz="4450" b="1" spc="535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4450" b="1" spc="60" dirty="0">
                <a:solidFill>
                  <a:srgbClr val="F27E1C"/>
                </a:solidFill>
                <a:latin typeface="Arial"/>
                <a:cs typeface="Arial"/>
              </a:rPr>
              <a:t>No</a:t>
            </a:r>
            <a:r>
              <a:rPr sz="4450" b="1" dirty="0">
                <a:solidFill>
                  <a:srgbClr val="F27E1C"/>
                </a:solidFill>
                <a:latin typeface="Arial"/>
                <a:cs typeface="Arial"/>
              </a:rPr>
              <a:t>	</a:t>
            </a:r>
            <a:r>
              <a:rPr sz="4450" b="1" spc="65" dirty="0">
                <a:solidFill>
                  <a:srgbClr val="F27E1C"/>
                </a:solidFill>
                <a:latin typeface="Arial"/>
                <a:cs typeface="Arial"/>
              </a:rPr>
              <a:t>Cam</a:t>
            </a:r>
            <a:r>
              <a:rPr sz="4450" b="1" dirty="0">
                <a:solidFill>
                  <a:srgbClr val="F27E1C"/>
                </a:solidFill>
                <a:latin typeface="Arial"/>
                <a:cs typeface="Arial"/>
              </a:rPr>
              <a:t>	</a:t>
            </a:r>
            <a:r>
              <a:rPr sz="3650" b="1" spc="-25" dirty="0">
                <a:solidFill>
                  <a:srgbClr val="F27E1C"/>
                </a:solidFill>
                <a:latin typeface="Arial"/>
                <a:cs typeface="Arial"/>
              </a:rPr>
              <a:t>Cl</a:t>
            </a:r>
            <a:endParaRPr sz="3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48246" y="4409187"/>
            <a:ext cx="4112895" cy="1230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125" dirty="0">
                <a:solidFill>
                  <a:srgbClr val="465262"/>
                </a:solidFill>
                <a:latin typeface="Arial"/>
                <a:cs typeface="Arial"/>
              </a:rPr>
              <a:t>Organic/</a:t>
            </a:r>
            <a:r>
              <a:rPr sz="2300" spc="2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100" dirty="0">
                <a:solidFill>
                  <a:srgbClr val="465262"/>
                </a:solidFill>
                <a:latin typeface="Arial"/>
                <a:cs typeface="Arial"/>
              </a:rPr>
              <a:t>No</a:t>
            </a:r>
            <a:r>
              <a:rPr sz="2300" spc="-3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Campaign</a:t>
            </a:r>
            <a:r>
              <a:rPr sz="2300" spc="23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65262"/>
                </a:solidFill>
                <a:latin typeface="Arial"/>
                <a:cs typeface="Arial"/>
              </a:rPr>
              <a:t>(65%)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Campaign</a:t>
            </a:r>
            <a:r>
              <a:rPr sz="2300" spc="15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Driven</a:t>
            </a:r>
            <a:r>
              <a:rPr sz="2300" spc="18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65262"/>
                </a:solidFill>
                <a:latin typeface="Arial"/>
                <a:cs typeface="Arial"/>
              </a:rPr>
              <a:t>(35%)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04760" y="8897924"/>
            <a:ext cx="16793845" cy="1395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445">
              <a:lnSpc>
                <a:spcPct val="130300"/>
              </a:lnSpc>
              <a:spcBef>
                <a:spcPts val="95"/>
              </a:spcBef>
            </a:pP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The</a:t>
            </a:r>
            <a:r>
              <a:rPr sz="2300" spc="3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65262"/>
                </a:solidFill>
                <a:latin typeface="Arial"/>
                <a:cs typeface="Arial"/>
              </a:rPr>
              <a:t>majority</a:t>
            </a:r>
            <a:r>
              <a:rPr sz="2300" spc="9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100" dirty="0">
                <a:solidFill>
                  <a:srgbClr val="465262"/>
                </a:solidFill>
                <a:latin typeface="Arial"/>
                <a:cs typeface="Arial"/>
              </a:rPr>
              <a:t>of</a:t>
            </a:r>
            <a:r>
              <a:rPr sz="2300" spc="13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orders</a:t>
            </a:r>
            <a:r>
              <a:rPr sz="2300" spc="1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occur</a:t>
            </a:r>
            <a:r>
              <a:rPr sz="2300" spc="14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organically</a:t>
            </a:r>
            <a:r>
              <a:rPr sz="2300" spc="21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without</a:t>
            </a:r>
            <a:r>
              <a:rPr sz="2300" spc="15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65262"/>
                </a:solidFill>
                <a:latin typeface="Arial"/>
                <a:cs typeface="Arial"/>
              </a:rPr>
              <a:t>direct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campaign</a:t>
            </a:r>
            <a:r>
              <a:rPr sz="2300" spc="17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65262"/>
                </a:solidFill>
                <a:latin typeface="Arial"/>
                <a:cs typeface="Arial"/>
              </a:rPr>
              <a:t>intervention.</a:t>
            </a:r>
            <a:r>
              <a:rPr sz="2300" spc="10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However,</a:t>
            </a:r>
            <a:r>
              <a:rPr sz="2300" spc="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campaigns</a:t>
            </a:r>
            <a:r>
              <a:rPr sz="2300" spc="24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100" dirty="0">
                <a:solidFill>
                  <a:srgbClr val="465262"/>
                </a:solidFill>
                <a:latin typeface="Arial"/>
                <a:cs typeface="Arial"/>
              </a:rPr>
              <a:t>still</a:t>
            </a:r>
            <a:r>
              <a:rPr sz="2300" spc="-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contribute</a:t>
            </a:r>
            <a:r>
              <a:rPr sz="2300" spc="15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65262"/>
                </a:solidFill>
                <a:latin typeface="Arial"/>
                <a:cs typeface="Arial"/>
              </a:rPr>
              <a:t>highly 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significant</a:t>
            </a:r>
            <a:r>
              <a:rPr sz="2300" spc="13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100" dirty="0">
                <a:solidFill>
                  <a:srgbClr val="465262"/>
                </a:solidFill>
                <a:latin typeface="Arial"/>
                <a:cs typeface="Arial"/>
              </a:rPr>
              <a:t>35%,</a:t>
            </a:r>
            <a:r>
              <a:rPr sz="2300" spc="-6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465262"/>
                </a:solidFill>
                <a:latin typeface="Arial"/>
                <a:cs typeface="Arial"/>
              </a:rPr>
              <a:t>proving</a:t>
            </a:r>
            <a:r>
              <a:rPr sz="2300" spc="4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95" dirty="0">
                <a:solidFill>
                  <a:srgbClr val="465262"/>
                </a:solidFill>
                <a:latin typeface="Arial"/>
                <a:cs typeface="Arial"/>
              </a:rPr>
              <a:t>they</a:t>
            </a:r>
            <a:r>
              <a:rPr sz="2300" spc="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90" dirty="0">
                <a:solidFill>
                  <a:srgbClr val="465262"/>
                </a:solidFill>
                <a:latin typeface="Arial"/>
                <a:cs typeface="Arial"/>
              </a:rPr>
              <a:t>successfully</a:t>
            </a:r>
            <a:r>
              <a:rPr sz="2300" spc="1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465262"/>
                </a:solidFill>
                <a:latin typeface="Arial"/>
                <a:cs typeface="Arial"/>
              </a:rPr>
              <a:t>drive</a:t>
            </a:r>
            <a:r>
              <a:rPr sz="2300" spc="2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incremental</a:t>
            </a:r>
            <a:r>
              <a:rPr sz="2300" spc="20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65262"/>
                </a:solidFill>
                <a:latin typeface="Arial"/>
                <a:cs typeface="Arial"/>
              </a:rPr>
              <a:t>demand.</a:t>
            </a:r>
            <a:r>
              <a:rPr sz="2300" spc="-3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65262"/>
                </a:solidFill>
                <a:latin typeface="Arial"/>
                <a:cs typeface="Arial"/>
              </a:rPr>
              <a:t>Customer</a:t>
            </a:r>
            <a:r>
              <a:rPr sz="2300" spc="21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behavior</a:t>
            </a:r>
            <a:r>
              <a:rPr sz="2300" spc="18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and</a:t>
            </a:r>
            <a:r>
              <a:rPr sz="2300" spc="-4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65262"/>
                </a:solidFill>
                <a:latin typeface="Arial"/>
                <a:cs typeface="Arial"/>
              </a:rPr>
              <a:t>order</a:t>
            </a:r>
            <a:r>
              <a:rPr sz="2300" spc="155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distribution</a:t>
            </a:r>
            <a:r>
              <a:rPr sz="2300" spc="15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65262"/>
                </a:solidFill>
                <a:latin typeface="Arial"/>
                <a:cs typeface="Arial"/>
              </a:rPr>
              <a:t>remain </a:t>
            </a:r>
            <a:r>
              <a:rPr sz="2300" spc="65" dirty="0">
                <a:solidFill>
                  <a:srgbClr val="465262"/>
                </a:solidFill>
                <a:latin typeface="Arial"/>
                <a:cs typeface="Arial"/>
              </a:rPr>
              <a:t>consistent</a:t>
            </a:r>
            <a:r>
              <a:rPr sz="2300" spc="21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65262"/>
                </a:solidFill>
                <a:latin typeface="Arial"/>
                <a:cs typeface="Arial"/>
              </a:rPr>
              <a:t>across </a:t>
            </a:r>
            <a:r>
              <a:rPr sz="2300" spc="85" dirty="0">
                <a:solidFill>
                  <a:srgbClr val="465262"/>
                </a:solidFill>
                <a:latin typeface="Arial"/>
                <a:cs typeface="Arial"/>
              </a:rPr>
              <a:t>both</a:t>
            </a:r>
            <a:r>
              <a:rPr sz="2300" spc="-20" dirty="0">
                <a:solidFill>
                  <a:srgbClr val="465262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65262"/>
                </a:solidFill>
                <a:latin typeface="Arial"/>
                <a:cs typeface="Arial"/>
              </a:rPr>
              <a:t>cities.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7983" y="3811576"/>
            <a:ext cx="629234" cy="755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0332" y="3795826"/>
            <a:ext cx="534849" cy="7717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19636" y="3811576"/>
            <a:ext cx="770812" cy="755997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5"/>
              </a:spcBef>
            </a:pPr>
            <a:r>
              <a:rPr spc="280" dirty="0"/>
              <a:t>Focus</a:t>
            </a:r>
            <a:r>
              <a:rPr spc="315" dirty="0"/>
              <a:t> </a:t>
            </a:r>
            <a:r>
              <a:rPr spc="390" dirty="0"/>
              <a:t>Areas</a:t>
            </a:r>
            <a:r>
              <a:rPr spc="180" dirty="0"/>
              <a:t> </a:t>
            </a:r>
            <a:r>
              <a:rPr spc="509" dirty="0"/>
              <a:t>&amp;</a:t>
            </a:r>
            <a:r>
              <a:rPr spc="170" dirty="0"/>
              <a:t> </a:t>
            </a:r>
            <a:r>
              <a:rPr spc="250" dirty="0">
                <a:solidFill>
                  <a:srgbClr val="F47E1A"/>
                </a:solidFill>
              </a:rPr>
              <a:t>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37779" y="1003256"/>
            <a:ext cx="265874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450" dirty="0">
                <a:solidFill>
                  <a:srgbClr val="F47E1A"/>
                </a:solidFill>
                <a:latin typeface="Arial"/>
                <a:cs typeface="Arial"/>
              </a:rPr>
              <a:t>uired</a:t>
            </a:r>
            <a:r>
              <a:rPr sz="4450" b="1" spc="35" dirty="0">
                <a:solidFill>
                  <a:srgbClr val="F47E1A"/>
                </a:solidFill>
                <a:latin typeface="Arial"/>
                <a:cs typeface="Arial"/>
              </a:rPr>
              <a:t> </a:t>
            </a:r>
            <a:r>
              <a:rPr sz="4450" b="1" spc="515" dirty="0">
                <a:solidFill>
                  <a:srgbClr val="F47E1A"/>
                </a:solidFill>
                <a:latin typeface="Arial"/>
                <a:cs typeface="Arial"/>
              </a:rPr>
              <a:t>Im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156" y="1003256"/>
            <a:ext cx="343344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459" dirty="0">
                <a:solidFill>
                  <a:srgbClr val="F47E1A"/>
                </a:solidFill>
                <a:latin typeface="Arial"/>
                <a:cs typeface="Arial"/>
              </a:rPr>
              <a:t>rovements</a:t>
            </a:r>
            <a:endParaRPr sz="4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8515" y="5099036"/>
            <a:ext cx="4691380" cy="3870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959" marR="445134" algn="ctr">
              <a:lnSpc>
                <a:spcPct val="125800"/>
              </a:lnSpc>
              <a:spcBef>
                <a:spcPts val="100"/>
              </a:spcBef>
            </a:pPr>
            <a:r>
              <a:rPr sz="3450" b="1" spc="165" dirty="0">
                <a:solidFill>
                  <a:srgbClr val="1D2636"/>
                </a:solidFill>
                <a:latin typeface="Arial"/>
                <a:cs typeface="Arial"/>
              </a:rPr>
              <a:t>Improve</a:t>
            </a:r>
            <a:r>
              <a:rPr sz="3450" b="1" spc="70" dirty="0">
                <a:solidFill>
                  <a:srgbClr val="1D2636"/>
                </a:solidFill>
                <a:latin typeface="Arial"/>
                <a:cs typeface="Arial"/>
              </a:rPr>
              <a:t> </a:t>
            </a:r>
            <a:r>
              <a:rPr sz="3450" b="1" spc="65" dirty="0">
                <a:solidFill>
                  <a:srgbClr val="1D2636"/>
                </a:solidFill>
                <a:latin typeface="Arial"/>
                <a:cs typeface="Arial"/>
              </a:rPr>
              <a:t>Delivery </a:t>
            </a:r>
            <a:r>
              <a:rPr sz="3450" b="1" spc="-10" dirty="0">
                <a:solidFill>
                  <a:srgbClr val="1D2636"/>
                </a:solidFill>
                <a:latin typeface="Arial"/>
                <a:cs typeface="Arial"/>
              </a:rPr>
              <a:t>Efficiency</a:t>
            </a:r>
            <a:endParaRPr sz="3450">
              <a:latin typeface="Arial"/>
              <a:cs typeface="Arial"/>
            </a:endParaRPr>
          </a:p>
          <a:p>
            <a:pPr marL="134620" marR="145415" algn="ctr">
              <a:lnSpc>
                <a:spcPct val="128600"/>
              </a:lnSpc>
              <a:spcBef>
                <a:spcPts val="2115"/>
              </a:spcBef>
            </a:pP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Reduce</a:t>
            </a:r>
            <a:r>
              <a:rPr sz="2250" spc="229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65" dirty="0">
                <a:solidFill>
                  <a:srgbClr val="485262"/>
                </a:solidFill>
                <a:latin typeface="Arial"/>
                <a:cs typeface="Arial"/>
              </a:rPr>
              <a:t>transit</a:t>
            </a:r>
            <a:r>
              <a:rPr sz="2250" spc="11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65" dirty="0">
                <a:solidFill>
                  <a:srgbClr val="485262"/>
                </a:solidFill>
                <a:latin typeface="Arial"/>
                <a:cs typeface="Arial"/>
              </a:rPr>
              <a:t>times,</a:t>
            </a:r>
            <a:r>
              <a:rPr sz="2250" spc="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485262"/>
                </a:solidFill>
                <a:latin typeface="Arial"/>
                <a:cs typeface="Arial"/>
              </a:rPr>
              <a:t>particularly </a:t>
            </a:r>
            <a:r>
              <a:rPr sz="2250" spc="65" dirty="0">
                <a:solidFill>
                  <a:srgbClr val="485262"/>
                </a:solidFill>
                <a:latin typeface="Arial"/>
                <a:cs typeface="Arial"/>
              </a:rPr>
              <a:t>during</a:t>
            </a:r>
            <a:r>
              <a:rPr sz="2250" spc="20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rainy</a:t>
            </a:r>
            <a:r>
              <a:rPr sz="2250" spc="1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60" dirty="0">
                <a:solidFill>
                  <a:srgbClr val="485262"/>
                </a:solidFill>
                <a:latin typeface="Arial"/>
                <a:cs typeface="Arial"/>
              </a:rPr>
              <a:t>conditions.</a:t>
            </a:r>
            <a:endParaRPr sz="2250">
              <a:latin typeface="Arial"/>
              <a:cs typeface="Arial"/>
            </a:endParaRPr>
          </a:p>
          <a:p>
            <a:pPr marL="12700" marR="5080" indent="2540" algn="ctr">
              <a:lnSpc>
                <a:spcPct val="133200"/>
              </a:lnSpc>
            </a:pP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Strategically</a:t>
            </a:r>
            <a:r>
              <a:rPr sz="2250" spc="-30" dirty="0">
                <a:solidFill>
                  <a:srgbClr val="485262"/>
                </a:solidFill>
                <a:latin typeface="Arial"/>
                <a:cs typeface="Arial"/>
              </a:rPr>
              <a:t> 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increase</a:t>
            </a:r>
            <a:r>
              <a:rPr sz="2250" spc="15" dirty="0">
                <a:solidFill>
                  <a:srgbClr val="485262"/>
                </a:solidFill>
                <a:latin typeface="Arial"/>
                <a:cs typeface="Arial"/>
              </a:rPr>
              <a:t> 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delivery </a:t>
            </a:r>
            <a:r>
              <a:rPr sz="2250" spc="70" dirty="0">
                <a:solidFill>
                  <a:srgbClr val="485262"/>
                </a:solidFill>
                <a:latin typeface="Arial"/>
                <a:cs typeface="Arial"/>
              </a:rPr>
              <a:t>partner</a:t>
            </a:r>
            <a:r>
              <a:rPr sz="2250" spc="20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availability</a:t>
            </a:r>
            <a:r>
              <a:rPr sz="2250" spc="2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65" dirty="0">
                <a:solidFill>
                  <a:srgbClr val="485262"/>
                </a:solidFill>
                <a:latin typeface="Arial"/>
                <a:cs typeface="Arial"/>
              </a:rPr>
              <a:t>during</a:t>
            </a:r>
            <a:r>
              <a:rPr sz="2250" spc="229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485262"/>
                </a:solidFill>
                <a:latin typeface="Arial"/>
                <a:cs typeface="Arial"/>
              </a:rPr>
              <a:t>seasonal </a:t>
            </a:r>
            <a:r>
              <a:rPr sz="2250" spc="60" dirty="0">
                <a:solidFill>
                  <a:srgbClr val="485262"/>
                </a:solidFill>
                <a:latin typeface="Arial"/>
                <a:cs typeface="Arial"/>
              </a:rPr>
              <a:t>peaks</a:t>
            </a:r>
            <a:r>
              <a:rPr sz="2250" spc="1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250" spc="-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105" dirty="0">
                <a:solidFill>
                  <a:srgbClr val="485262"/>
                </a:solidFill>
                <a:latin typeface="Arial"/>
                <a:cs typeface="Arial"/>
              </a:rPr>
              <a:t>rush</a:t>
            </a:r>
            <a:r>
              <a:rPr sz="2250" spc="-1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85" dirty="0">
                <a:solidFill>
                  <a:srgbClr val="485262"/>
                </a:solidFill>
                <a:latin typeface="Arial"/>
                <a:cs typeface="Arial"/>
              </a:rPr>
              <a:t>hours.</a:t>
            </a:r>
            <a:endParaRPr sz="2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91188" y="5091160"/>
            <a:ext cx="4533265" cy="387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 marR="112395" algn="ctr">
              <a:lnSpc>
                <a:spcPct val="125800"/>
              </a:lnSpc>
              <a:spcBef>
                <a:spcPts val="100"/>
              </a:spcBef>
            </a:pPr>
            <a:r>
              <a:rPr sz="3450" b="1" spc="100" dirty="0">
                <a:solidFill>
                  <a:srgbClr val="1D2636"/>
                </a:solidFill>
                <a:latin typeface="Arial"/>
                <a:cs typeface="Arial"/>
              </a:rPr>
              <a:t>Strengthen </a:t>
            </a:r>
            <a:r>
              <a:rPr sz="3450" b="1" spc="175" dirty="0">
                <a:solidFill>
                  <a:srgbClr val="1D2636"/>
                </a:solidFill>
                <a:latin typeface="Arial"/>
                <a:cs typeface="Arial"/>
              </a:rPr>
              <a:t>Mobile-</a:t>
            </a:r>
            <a:r>
              <a:rPr sz="3450" b="1" spc="-10" dirty="0">
                <a:solidFill>
                  <a:srgbClr val="1D2636"/>
                </a:solidFill>
                <a:latin typeface="Arial"/>
                <a:cs typeface="Arial"/>
              </a:rPr>
              <a:t>First</a:t>
            </a:r>
            <a:endParaRPr sz="3450">
              <a:latin typeface="Arial"/>
              <a:cs typeface="Arial"/>
            </a:endParaRPr>
          </a:p>
          <a:p>
            <a:pPr marL="12065" marR="5080" algn="ctr">
              <a:lnSpc>
                <a:spcPct val="131700"/>
              </a:lnSpc>
              <a:spcBef>
                <a:spcPts val="2095"/>
              </a:spcBef>
            </a:pPr>
            <a:r>
              <a:rPr sz="2250" spc="60" dirty="0">
                <a:solidFill>
                  <a:srgbClr val="485262"/>
                </a:solidFill>
                <a:latin typeface="Arial"/>
                <a:cs typeface="Arial"/>
              </a:rPr>
              <a:t>Concentrate</a:t>
            </a:r>
            <a:r>
              <a:rPr sz="2250" spc="2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65" dirty="0">
                <a:solidFill>
                  <a:srgbClr val="485262"/>
                </a:solidFill>
                <a:latin typeface="Arial"/>
                <a:cs typeface="Arial"/>
              </a:rPr>
              <a:t>development</a:t>
            </a:r>
            <a:r>
              <a:rPr sz="2250" spc="3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85" dirty="0">
                <a:solidFill>
                  <a:srgbClr val="485262"/>
                </a:solidFill>
                <a:latin typeface="Arial"/>
                <a:cs typeface="Arial"/>
              </a:rPr>
              <a:t>efforts </a:t>
            </a:r>
            <a:r>
              <a:rPr sz="2250" spc="110" dirty="0">
                <a:solidFill>
                  <a:srgbClr val="485262"/>
                </a:solidFill>
                <a:latin typeface="Arial"/>
                <a:cs typeface="Arial"/>
              </a:rPr>
              <a:t>on</a:t>
            </a:r>
            <a:r>
              <a:rPr sz="2250" spc="-1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485262"/>
                </a:solidFill>
                <a:latin typeface="Arial"/>
                <a:cs typeface="Arial"/>
              </a:rPr>
              <a:t>Android</a:t>
            </a:r>
            <a:r>
              <a:rPr sz="2250" spc="8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250" spc="-8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iOS</a:t>
            </a:r>
            <a:r>
              <a:rPr sz="2250" spc="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485262"/>
                </a:solidFill>
                <a:latin typeface="Arial"/>
                <a:cs typeface="Arial"/>
              </a:rPr>
              <a:t>platforms </a:t>
            </a:r>
            <a:r>
              <a:rPr sz="2250" spc="80" dirty="0">
                <a:solidFill>
                  <a:srgbClr val="485262"/>
                </a:solidFill>
                <a:latin typeface="Arial"/>
                <a:cs typeface="Arial"/>
              </a:rPr>
              <a:t>where</a:t>
            </a:r>
            <a:r>
              <a:rPr sz="2250" spc="2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90" dirty="0">
                <a:solidFill>
                  <a:srgbClr val="485262"/>
                </a:solidFill>
                <a:latin typeface="Arial"/>
                <a:cs typeface="Arial"/>
              </a:rPr>
              <a:t>the</a:t>
            </a:r>
            <a:r>
              <a:rPr sz="2250" spc="25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vast</a:t>
            </a:r>
            <a:r>
              <a:rPr sz="2250" spc="18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majority</a:t>
            </a:r>
            <a:r>
              <a:rPr sz="2250" spc="2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485262"/>
                </a:solidFill>
                <a:latin typeface="Arial"/>
                <a:cs typeface="Arial"/>
              </a:rPr>
              <a:t>of </a:t>
            </a:r>
            <a:r>
              <a:rPr sz="2250" spc="100" dirty="0">
                <a:solidFill>
                  <a:srgbClr val="485262"/>
                </a:solidFill>
                <a:latin typeface="Arial"/>
                <a:cs typeface="Arial"/>
              </a:rPr>
              <a:t>successful</a:t>
            </a:r>
            <a:r>
              <a:rPr sz="2250" spc="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deliveries</a:t>
            </a:r>
            <a:r>
              <a:rPr sz="2250" spc="1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40" dirty="0">
                <a:solidFill>
                  <a:srgbClr val="485262"/>
                </a:solidFill>
                <a:latin typeface="Arial"/>
                <a:cs typeface="Arial"/>
              </a:rPr>
              <a:t>originate.</a:t>
            </a:r>
            <a:endParaRPr sz="2250">
              <a:latin typeface="Arial"/>
              <a:cs typeface="Arial"/>
            </a:endParaRPr>
          </a:p>
          <a:p>
            <a:pPr marL="27940" algn="ctr">
              <a:lnSpc>
                <a:spcPct val="100000"/>
              </a:lnSpc>
              <a:spcBef>
                <a:spcPts val="894"/>
              </a:spcBef>
            </a:pP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Enhance</a:t>
            </a:r>
            <a:r>
              <a:rPr sz="2250" spc="229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app</a:t>
            </a:r>
            <a:r>
              <a:rPr sz="2250" spc="1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485262"/>
                </a:solidFill>
                <a:latin typeface="Arial"/>
                <a:cs typeface="Arial"/>
              </a:rPr>
              <a:t>UX.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45230" y="5099036"/>
            <a:ext cx="4713605" cy="341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0" marR="1060450" indent="38100" algn="ctr">
              <a:lnSpc>
                <a:spcPct val="125800"/>
              </a:lnSpc>
              <a:spcBef>
                <a:spcPts val="100"/>
              </a:spcBef>
            </a:pPr>
            <a:r>
              <a:rPr sz="3450" b="1" spc="130" dirty="0">
                <a:solidFill>
                  <a:srgbClr val="1D2636"/>
                </a:solidFill>
                <a:latin typeface="Arial"/>
                <a:cs typeface="Arial"/>
              </a:rPr>
              <a:t>Optimize </a:t>
            </a:r>
            <a:r>
              <a:rPr sz="3450" b="1" spc="210" dirty="0">
                <a:solidFill>
                  <a:srgbClr val="1D2636"/>
                </a:solidFill>
                <a:latin typeface="Arial"/>
                <a:cs typeface="Arial"/>
              </a:rPr>
              <a:t>Campaigns</a:t>
            </a:r>
            <a:endParaRPr sz="3450">
              <a:latin typeface="Arial"/>
              <a:cs typeface="Arial"/>
            </a:endParaRPr>
          </a:p>
          <a:p>
            <a:pPr marL="12065" marR="5080" indent="-10160" algn="ctr">
              <a:lnSpc>
                <a:spcPct val="131700"/>
              </a:lnSpc>
              <a:spcBef>
                <a:spcPts val="2035"/>
              </a:spcBef>
            </a:pP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Reallocate </a:t>
            </a:r>
            <a:r>
              <a:rPr sz="2250" spc="85" dirty="0">
                <a:solidFill>
                  <a:srgbClr val="485262"/>
                </a:solidFill>
                <a:latin typeface="Arial"/>
                <a:cs typeface="Arial"/>
              </a:rPr>
              <a:t>budget</a:t>
            </a:r>
            <a:r>
              <a:rPr sz="2250" spc="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105" dirty="0">
                <a:solidFill>
                  <a:srgbClr val="485262"/>
                </a:solidFill>
                <a:latin typeface="Arial"/>
                <a:cs typeface="Arial"/>
              </a:rPr>
              <a:t>toward</a:t>
            </a:r>
            <a:r>
              <a:rPr sz="2250" spc="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90" dirty="0">
                <a:solidFill>
                  <a:srgbClr val="485262"/>
                </a:solidFill>
                <a:latin typeface="Arial"/>
                <a:cs typeface="Arial"/>
              </a:rPr>
              <a:t>high-</a:t>
            </a:r>
            <a:r>
              <a:rPr sz="2250" spc="80" dirty="0">
                <a:solidFill>
                  <a:srgbClr val="485262"/>
                </a:solidFill>
                <a:latin typeface="Arial"/>
                <a:cs typeface="Arial"/>
              </a:rPr>
              <a:t>performing</a:t>
            </a:r>
            <a:r>
              <a:rPr sz="2250" spc="13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channels</a:t>
            </a:r>
            <a:r>
              <a:rPr sz="2250" spc="20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like</a:t>
            </a:r>
            <a:r>
              <a:rPr sz="2250" spc="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70" dirty="0">
                <a:solidFill>
                  <a:srgbClr val="485262"/>
                </a:solidFill>
                <a:latin typeface="Arial"/>
                <a:cs typeface="Arial"/>
              </a:rPr>
              <a:t>Push</a:t>
            </a:r>
            <a:r>
              <a:rPr sz="2250" spc="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30" dirty="0">
                <a:solidFill>
                  <a:srgbClr val="485262"/>
                </a:solidFill>
                <a:latin typeface="Arial"/>
                <a:cs typeface="Arial"/>
              </a:rPr>
              <a:t>and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Email.</a:t>
            </a:r>
            <a:r>
              <a:rPr sz="2250" spc="-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485262"/>
                </a:solidFill>
                <a:latin typeface="Arial"/>
                <a:cs typeface="Arial"/>
              </a:rPr>
              <a:t>Redesign</a:t>
            </a:r>
            <a:r>
              <a:rPr sz="2250" spc="80" dirty="0">
                <a:solidFill>
                  <a:srgbClr val="485262"/>
                </a:solidFill>
                <a:latin typeface="Arial"/>
                <a:cs typeface="Arial"/>
              </a:rPr>
              <a:t> or </a:t>
            </a:r>
            <a:r>
              <a:rPr sz="2250" spc="55" dirty="0">
                <a:solidFill>
                  <a:srgbClr val="485262"/>
                </a:solidFill>
                <a:latin typeface="Arial"/>
                <a:cs typeface="Arial"/>
              </a:rPr>
              <a:t>phase </a:t>
            </a:r>
            <a:r>
              <a:rPr sz="2250" spc="100" dirty="0">
                <a:solidFill>
                  <a:srgbClr val="485262"/>
                </a:solidFill>
                <a:latin typeface="Arial"/>
                <a:cs typeface="Arial"/>
              </a:rPr>
              <a:t>out</a:t>
            </a:r>
            <a:r>
              <a:rPr sz="2250" spc="6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110" dirty="0">
                <a:solidFill>
                  <a:srgbClr val="485262"/>
                </a:solidFill>
                <a:latin typeface="Arial"/>
                <a:cs typeface="Arial"/>
              </a:rPr>
              <a:t>low-</a:t>
            </a:r>
            <a:r>
              <a:rPr sz="2250" spc="75" dirty="0">
                <a:solidFill>
                  <a:srgbClr val="485262"/>
                </a:solidFill>
                <a:latin typeface="Arial"/>
                <a:cs typeface="Arial"/>
              </a:rPr>
              <a:t>converting</a:t>
            </a:r>
            <a:r>
              <a:rPr sz="2250" spc="1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70" dirty="0">
                <a:solidFill>
                  <a:srgbClr val="485262"/>
                </a:solidFill>
                <a:latin typeface="Arial"/>
                <a:cs typeface="Arial"/>
              </a:rPr>
              <a:t>Popup</a:t>
            </a:r>
            <a:r>
              <a:rPr sz="2250" spc="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250" spc="40" dirty="0">
                <a:solidFill>
                  <a:srgbClr val="485262"/>
                </a:solidFill>
                <a:latin typeface="Arial"/>
                <a:cs typeface="Arial"/>
              </a:rPr>
              <a:t>campaigns.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4479" y="1590831"/>
            <a:ext cx="361810" cy="1732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34927" y="1003256"/>
            <a:ext cx="193548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380" dirty="0">
                <a:solidFill>
                  <a:srgbClr val="0E1626"/>
                </a:solidFill>
              </a:rPr>
              <a:t>Strate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65739" y="1003256"/>
            <a:ext cx="68694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350" dirty="0">
                <a:solidFill>
                  <a:srgbClr val="0E1626"/>
                </a:solidFill>
                <a:latin typeface="Arial"/>
                <a:cs typeface="Arial"/>
              </a:rPr>
              <a:t>ic</a:t>
            </a:r>
            <a:r>
              <a:rPr sz="4450" b="1" spc="-30" dirty="0">
                <a:solidFill>
                  <a:srgbClr val="0E1626"/>
                </a:solidFill>
                <a:latin typeface="Arial"/>
                <a:cs typeface="Arial"/>
              </a:rPr>
              <a:t> </a:t>
            </a:r>
            <a:r>
              <a:rPr sz="4450" b="1" spc="540" dirty="0">
                <a:solidFill>
                  <a:srgbClr val="F27E1C"/>
                </a:solidFill>
                <a:latin typeface="Arial"/>
                <a:cs typeface="Arial"/>
              </a:rPr>
              <a:t>Recommendations</a:t>
            </a:r>
            <a:endParaRPr sz="4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5405" y="4082375"/>
            <a:ext cx="5443220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145" dirty="0">
                <a:solidFill>
                  <a:srgbClr val="F27E1C"/>
                </a:solidFill>
                <a:latin typeface="Arial"/>
                <a:cs typeface="Arial"/>
              </a:rPr>
              <a:t>liil</a:t>
            </a:r>
            <a:r>
              <a:rPr sz="3600" b="1" spc="-200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00" b="1" spc="65" dirty="0">
                <a:solidFill>
                  <a:srgbClr val="F27E1C"/>
                </a:solidFill>
                <a:latin typeface="Arial"/>
                <a:cs typeface="Arial"/>
              </a:rPr>
              <a:t>Control</a:t>
            </a:r>
            <a:r>
              <a:rPr sz="3500" b="1" spc="-5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00" b="1" spc="105" dirty="0">
                <a:solidFill>
                  <a:srgbClr val="F27E1C"/>
                </a:solidFill>
                <a:latin typeface="Arial"/>
                <a:cs typeface="Arial"/>
              </a:rPr>
              <a:t>Coupon</a:t>
            </a:r>
            <a:r>
              <a:rPr sz="3500" b="1" spc="75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00" b="1" spc="-20" dirty="0">
                <a:solidFill>
                  <a:srgbClr val="F27E1C"/>
                </a:solidFill>
                <a:latin typeface="Arial"/>
                <a:cs typeface="Arial"/>
              </a:rPr>
              <a:t>Burn</a:t>
            </a:r>
            <a:endParaRPr sz="3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2828" y="5255747"/>
            <a:ext cx="7040245" cy="2974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Optimize</a:t>
            </a:r>
            <a:r>
              <a:rPr sz="2300" spc="2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promotional</a:t>
            </a:r>
            <a:r>
              <a:rPr sz="2300" spc="18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85262"/>
                </a:solidFill>
                <a:latin typeface="Arial"/>
                <a:cs typeface="Arial"/>
              </a:rPr>
              <a:t>spend</a:t>
            </a:r>
            <a:r>
              <a:rPr sz="2300" spc="14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to</a:t>
            </a:r>
            <a:r>
              <a:rPr sz="2300" spc="2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maximize</a:t>
            </a:r>
            <a:r>
              <a:rPr sz="2300" spc="25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85262"/>
                </a:solidFill>
                <a:latin typeface="Arial"/>
                <a:cs typeface="Arial"/>
              </a:rPr>
              <a:t>ROI.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300">
              <a:latin typeface="Arial"/>
              <a:cs typeface="Arial"/>
            </a:endParaRPr>
          </a:p>
          <a:p>
            <a:pPr marL="428625" indent="-415925">
              <a:lnSpc>
                <a:spcPct val="100000"/>
              </a:lnSpc>
              <a:buClr>
                <a:srgbClr val="F27E1C"/>
              </a:buClr>
              <a:buChar char="•"/>
              <a:tabLst>
                <a:tab pos="428625" algn="l"/>
              </a:tabLst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Focus</a:t>
            </a:r>
            <a:r>
              <a:rPr sz="2300" spc="11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485262"/>
                </a:solidFill>
                <a:latin typeface="Arial"/>
                <a:cs typeface="Arial"/>
              </a:rPr>
              <a:t>on</a:t>
            </a:r>
            <a:r>
              <a:rPr sz="2300" spc="-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85262"/>
                </a:solidFill>
                <a:latin typeface="Arial"/>
                <a:cs typeface="Arial"/>
              </a:rPr>
              <a:t>high-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conversion,</a:t>
            </a:r>
            <a:r>
              <a:rPr sz="2300" spc="-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85262"/>
                </a:solidFill>
                <a:latin typeface="Arial"/>
                <a:cs typeface="Arial"/>
              </a:rPr>
              <a:t>low-</a:t>
            </a:r>
            <a:r>
              <a:rPr sz="2300" spc="85" dirty="0">
                <a:solidFill>
                  <a:srgbClr val="485262"/>
                </a:solidFill>
                <a:latin typeface="Arial"/>
                <a:cs typeface="Arial"/>
              </a:rPr>
              <a:t>burn</a:t>
            </a:r>
            <a:r>
              <a:rPr sz="2300" spc="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coupons.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27E1C"/>
              </a:buClr>
              <a:buFont typeface="Arial"/>
              <a:buChar char="•"/>
            </a:pPr>
            <a:endParaRPr sz="2300">
              <a:latin typeface="Arial"/>
              <a:cs typeface="Arial"/>
            </a:endParaRPr>
          </a:p>
          <a:p>
            <a:pPr marL="429259" indent="-416559">
              <a:lnSpc>
                <a:spcPct val="100000"/>
              </a:lnSpc>
              <a:spcBef>
                <a:spcPts val="5"/>
              </a:spcBef>
              <a:buClr>
                <a:srgbClr val="F27E1C"/>
              </a:buClr>
              <a:buChar char="•"/>
              <a:tabLst>
                <a:tab pos="429259" algn="l"/>
              </a:tabLst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Avoid</a:t>
            </a:r>
            <a:r>
              <a:rPr sz="2300" spc="1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excessive</a:t>
            </a:r>
            <a:r>
              <a:rPr sz="2300" spc="409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discounting</a:t>
            </a:r>
            <a:r>
              <a:rPr sz="2300" spc="37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that</a:t>
            </a:r>
            <a:r>
              <a:rPr sz="2300" spc="1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harms</a:t>
            </a:r>
            <a:r>
              <a:rPr sz="2300" spc="2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margins.</a:t>
            </a:r>
            <a:endParaRPr sz="2300">
              <a:latin typeface="Arial"/>
              <a:cs typeface="Arial"/>
            </a:endParaRPr>
          </a:p>
          <a:p>
            <a:pPr marL="426084" marR="277495" indent="-414020">
              <a:lnSpc>
                <a:spcPct val="130300"/>
              </a:lnSpc>
              <a:spcBef>
                <a:spcPts val="1860"/>
              </a:spcBef>
              <a:buChar char="•"/>
              <a:tabLst>
                <a:tab pos="426084" algn="l"/>
                <a:tab pos="429895" algn="l"/>
              </a:tabLst>
            </a:pPr>
            <a:r>
              <a:rPr sz="2300" dirty="0">
                <a:solidFill>
                  <a:srgbClr val="F27E1C"/>
                </a:solidFill>
                <a:latin typeface="Arial"/>
                <a:cs typeface="Arial"/>
              </a:rPr>
              <a:t>	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Deploy</a:t>
            </a:r>
            <a:r>
              <a:rPr sz="2300" spc="1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coupons</a:t>
            </a:r>
            <a:r>
              <a:rPr sz="2300" spc="48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strategically</a:t>
            </a:r>
            <a:r>
              <a:rPr sz="2300" spc="41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85262"/>
                </a:solidFill>
                <a:latin typeface="Arial"/>
                <a:cs typeface="Arial"/>
              </a:rPr>
              <a:t>for</a:t>
            </a:r>
            <a:r>
              <a:rPr sz="2300" spc="20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acquiring</a:t>
            </a:r>
            <a:r>
              <a:rPr sz="2300" spc="28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new </a:t>
            </a:r>
            <a:r>
              <a:rPr sz="2300" spc="55" dirty="0">
                <a:solidFill>
                  <a:srgbClr val="485262"/>
                </a:solidFill>
                <a:latin typeface="Arial"/>
                <a:cs typeface="Arial"/>
              </a:rPr>
              <a:t>users</a:t>
            </a:r>
            <a:r>
              <a:rPr sz="2300" spc="204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driving</a:t>
            </a:r>
            <a:r>
              <a:rPr sz="2300" spc="1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85262"/>
                </a:solidFill>
                <a:latin typeface="Arial"/>
                <a:cs typeface="Arial"/>
              </a:rPr>
              <a:t>repeat</a:t>
            </a:r>
            <a:r>
              <a:rPr sz="2300" spc="1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85262"/>
                </a:solidFill>
                <a:latin typeface="Arial"/>
                <a:cs typeface="Arial"/>
              </a:rPr>
              <a:t>purchases.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9499" y="4090250"/>
            <a:ext cx="6922770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0" spc="135" dirty="0">
                <a:solidFill>
                  <a:srgbClr val="F27E1C"/>
                </a:solidFill>
                <a:latin typeface="Arial"/>
                <a:cs typeface="Arial"/>
              </a:rPr>
              <a:t>�-</a:t>
            </a:r>
            <a:r>
              <a:rPr sz="3500" spc="380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00" b="1" spc="50" dirty="0">
                <a:solidFill>
                  <a:srgbClr val="F27E1C"/>
                </a:solidFill>
                <a:latin typeface="Arial"/>
                <a:cs typeface="Arial"/>
              </a:rPr>
              <a:t>Leverage</a:t>
            </a:r>
            <a:r>
              <a:rPr sz="3500" b="1" spc="75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00" b="1" spc="185" dirty="0">
                <a:solidFill>
                  <a:srgbClr val="F27E1C"/>
                </a:solidFill>
                <a:latin typeface="Arial"/>
                <a:cs typeface="Arial"/>
              </a:rPr>
              <a:t>Data</a:t>
            </a:r>
            <a:r>
              <a:rPr sz="3500" b="1" spc="85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00" b="1" dirty="0">
                <a:solidFill>
                  <a:srgbClr val="F27E1C"/>
                </a:solidFill>
                <a:latin typeface="Arial"/>
                <a:cs typeface="Arial"/>
              </a:rPr>
              <a:t>for</a:t>
            </a:r>
            <a:r>
              <a:rPr sz="3500" b="1" spc="-80" dirty="0">
                <a:solidFill>
                  <a:srgbClr val="F27E1C"/>
                </a:solidFill>
                <a:latin typeface="Arial"/>
                <a:cs typeface="Arial"/>
              </a:rPr>
              <a:t> </a:t>
            </a:r>
            <a:r>
              <a:rPr sz="3500" b="1" spc="-35" dirty="0">
                <a:solidFill>
                  <a:srgbClr val="F27E1C"/>
                </a:solidFill>
                <a:latin typeface="Arial"/>
                <a:cs typeface="Arial"/>
              </a:rPr>
              <a:t>Decisions</a:t>
            </a:r>
            <a:endParaRPr sz="3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48656" y="5164397"/>
            <a:ext cx="7389495" cy="328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1234440" indent="-2540">
              <a:lnSpc>
                <a:spcPct val="125800"/>
              </a:lnSpc>
              <a:spcBef>
                <a:spcPts val="100"/>
              </a:spcBef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Maintain</a:t>
            </a:r>
            <a:r>
              <a:rPr sz="2300" spc="1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an</a:t>
            </a:r>
            <a:r>
              <a:rPr sz="2300" spc="1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agile</a:t>
            </a:r>
            <a:r>
              <a:rPr sz="2300" spc="17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operational</a:t>
            </a:r>
            <a:r>
              <a:rPr sz="2300" spc="13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posture</a:t>
            </a:r>
            <a:r>
              <a:rPr sz="2300" spc="15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through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continuous</a:t>
            </a:r>
            <a:r>
              <a:rPr sz="2300" spc="20" dirty="0">
                <a:solidFill>
                  <a:srgbClr val="485262"/>
                </a:solidFill>
                <a:latin typeface="Arial"/>
                <a:cs typeface="Arial"/>
              </a:rPr>
              <a:t> 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monitoring.</a:t>
            </a:r>
            <a:endParaRPr sz="2300">
              <a:latin typeface="Arial"/>
              <a:cs typeface="Arial"/>
            </a:endParaRPr>
          </a:p>
          <a:p>
            <a:pPr marL="421640" marR="5080" indent="-409575">
              <a:lnSpc>
                <a:spcPct val="128099"/>
              </a:lnSpc>
              <a:spcBef>
                <a:spcPts val="2540"/>
              </a:spcBef>
              <a:buChar char="•"/>
              <a:tabLst>
                <a:tab pos="421640" algn="l"/>
                <a:tab pos="422909" algn="l"/>
              </a:tabLst>
            </a:pPr>
            <a:r>
              <a:rPr sz="2300" dirty="0">
                <a:solidFill>
                  <a:srgbClr val="F27E1C"/>
                </a:solidFill>
                <a:latin typeface="Arial"/>
                <a:cs typeface="Arial"/>
              </a:rPr>
              <a:t>	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Monitor</a:t>
            </a:r>
            <a:r>
              <a:rPr sz="2300" spc="33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KPls</a:t>
            </a:r>
            <a:r>
              <a:rPr sz="2300" spc="25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regularly</a:t>
            </a:r>
            <a:r>
              <a:rPr sz="2300" spc="41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(Orders,</a:t>
            </a:r>
            <a:r>
              <a:rPr sz="2300" spc="2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485262"/>
                </a:solidFill>
                <a:latin typeface="Arial"/>
                <a:cs typeface="Arial"/>
              </a:rPr>
              <a:t>CTR,</a:t>
            </a:r>
            <a:r>
              <a:rPr sz="2300" spc="8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Delivery</a:t>
            </a:r>
            <a:r>
              <a:rPr sz="2300" spc="2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Time, Revenue).</a:t>
            </a:r>
            <a:endParaRPr sz="2300">
              <a:latin typeface="Arial"/>
              <a:cs typeface="Arial"/>
            </a:endParaRPr>
          </a:p>
          <a:p>
            <a:pPr marL="421640" marR="774065" indent="-409575">
              <a:lnSpc>
                <a:spcPct val="130300"/>
              </a:lnSpc>
              <a:spcBef>
                <a:spcPts val="1925"/>
              </a:spcBef>
              <a:buClr>
                <a:srgbClr val="F27E1C"/>
              </a:buClr>
              <a:buChar char="•"/>
              <a:tabLst>
                <a:tab pos="425450" algn="l"/>
              </a:tabLst>
            </a:pP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Use</a:t>
            </a:r>
            <a:r>
              <a:rPr sz="2300" spc="19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granular</a:t>
            </a:r>
            <a:r>
              <a:rPr sz="2300" spc="32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data</a:t>
            </a:r>
            <a:r>
              <a:rPr sz="2300" spc="10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insights</a:t>
            </a:r>
            <a:r>
              <a:rPr sz="2300" spc="229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to</a:t>
            </a:r>
            <a:r>
              <a:rPr sz="2300" spc="22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drive</a:t>
            </a:r>
            <a:r>
              <a:rPr sz="2300" spc="19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85262"/>
                </a:solidFill>
                <a:latin typeface="Arial"/>
                <a:cs typeface="Arial"/>
              </a:rPr>
              <a:t>continuous 	</a:t>
            </a:r>
            <a:r>
              <a:rPr sz="2300" spc="60" dirty="0">
                <a:solidFill>
                  <a:srgbClr val="485262"/>
                </a:solidFill>
                <a:latin typeface="Arial"/>
                <a:cs typeface="Arial"/>
              </a:rPr>
              <a:t>product</a:t>
            </a:r>
            <a:r>
              <a:rPr sz="2300" spc="24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and</a:t>
            </a:r>
            <a:r>
              <a:rPr sz="2300" spc="65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85262"/>
                </a:solidFill>
                <a:latin typeface="Arial"/>
                <a:cs typeface="Arial"/>
              </a:rPr>
              <a:t>logistics</a:t>
            </a:r>
            <a:r>
              <a:rPr sz="2300" spc="300" dirty="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85262"/>
                </a:solidFill>
                <a:latin typeface="Arial"/>
                <a:cs typeface="Arial"/>
              </a:rPr>
              <a:t>improvement.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8542" y="2992578"/>
            <a:ext cx="629234" cy="7874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2163" y="2992578"/>
            <a:ext cx="707889" cy="7874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58709" y="2976828"/>
            <a:ext cx="786543" cy="8032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39638" y="2992582"/>
            <a:ext cx="723619" cy="7874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73369" y="2961082"/>
            <a:ext cx="707889" cy="8189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64415" y="2976828"/>
            <a:ext cx="723619" cy="8032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47614" y="2976828"/>
            <a:ext cx="676427" cy="818997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1627875" y="3143400"/>
            <a:ext cx="424815" cy="774065"/>
          </a:xfrm>
          <a:prstGeom prst="rect">
            <a:avLst/>
          </a:prstGeom>
          <a:solidFill>
            <a:srgbClr val="F47E1C"/>
          </a:solidFill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b="0" spc="25" dirty="0">
                <a:solidFill>
                  <a:srgbClr val="FDFDFB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812818" y="4570624"/>
            <a:ext cx="8479155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dirty="0">
                <a:solidFill>
                  <a:srgbClr val="313F4F"/>
                </a:solidFill>
                <a:latin typeface="Arial"/>
                <a:cs typeface="Arial"/>
              </a:rPr>
              <a:t>Opening</a:t>
            </a:r>
            <a:r>
              <a:rPr sz="3000" spc="254" dirty="0">
                <a:solidFill>
                  <a:srgbClr val="313F4F"/>
                </a:solidFill>
                <a:latin typeface="Arial"/>
                <a:cs typeface="Arial"/>
              </a:rPr>
              <a:t> </a:t>
            </a:r>
            <a:r>
              <a:rPr sz="3000" spc="105" dirty="0">
                <a:solidFill>
                  <a:srgbClr val="313F4F"/>
                </a:solidFill>
                <a:latin typeface="Arial"/>
                <a:cs typeface="Arial"/>
              </a:rPr>
              <a:t>the</a:t>
            </a:r>
            <a:r>
              <a:rPr sz="3000" spc="55" dirty="0">
                <a:solidFill>
                  <a:srgbClr val="313F4F"/>
                </a:solidFill>
                <a:latin typeface="Arial"/>
                <a:cs typeface="Arial"/>
              </a:rPr>
              <a:t> </a:t>
            </a:r>
            <a:r>
              <a:rPr sz="3000" spc="90" dirty="0">
                <a:solidFill>
                  <a:srgbClr val="313F4F"/>
                </a:solidFill>
                <a:latin typeface="Arial"/>
                <a:cs typeface="Arial"/>
              </a:rPr>
              <a:t>floor</a:t>
            </a:r>
            <a:r>
              <a:rPr sz="3000" spc="215" dirty="0">
                <a:solidFill>
                  <a:srgbClr val="313F4F"/>
                </a:solidFill>
                <a:latin typeface="Arial"/>
                <a:cs typeface="Arial"/>
              </a:rPr>
              <a:t> </a:t>
            </a:r>
            <a:r>
              <a:rPr sz="3000" spc="80" dirty="0">
                <a:solidFill>
                  <a:srgbClr val="313F4F"/>
                </a:solidFill>
                <a:latin typeface="Arial"/>
                <a:cs typeface="Arial"/>
              </a:rPr>
              <a:t>for</a:t>
            </a:r>
            <a:r>
              <a:rPr sz="3000" spc="220" dirty="0">
                <a:solidFill>
                  <a:srgbClr val="313F4F"/>
                </a:solidFill>
                <a:latin typeface="Arial"/>
                <a:cs typeface="Arial"/>
              </a:rPr>
              <a:t> </a:t>
            </a:r>
            <a:r>
              <a:rPr sz="3000" spc="70" dirty="0">
                <a:solidFill>
                  <a:srgbClr val="313F4F"/>
                </a:solidFill>
                <a:latin typeface="Arial"/>
                <a:cs typeface="Arial"/>
              </a:rPr>
              <a:t>questions</a:t>
            </a:r>
            <a:r>
              <a:rPr sz="3000" spc="270" dirty="0">
                <a:solidFill>
                  <a:srgbClr val="313F4F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313F4F"/>
                </a:solidFill>
                <a:latin typeface="Arial"/>
                <a:cs typeface="Arial"/>
              </a:rPr>
              <a:t>and</a:t>
            </a:r>
            <a:r>
              <a:rPr sz="3000" spc="145" dirty="0">
                <a:solidFill>
                  <a:srgbClr val="313F4F"/>
                </a:solidFill>
                <a:latin typeface="Arial"/>
                <a:cs typeface="Arial"/>
              </a:rPr>
              <a:t> </a:t>
            </a:r>
            <a:r>
              <a:rPr sz="3000" spc="65" dirty="0">
                <a:solidFill>
                  <a:srgbClr val="313F4F"/>
                </a:solidFill>
                <a:latin typeface="Arial"/>
                <a:cs typeface="Arial"/>
              </a:rPr>
              <a:t>discussion.</a:t>
            </a:r>
            <a:endParaRPr sz="3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55408" y="6488181"/>
            <a:ext cx="5170170" cy="193065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2540" algn="ctr">
              <a:spcBef>
                <a:spcPts val="135"/>
              </a:spcBef>
              <a:tabLst>
                <a:tab pos="561975" algn="l"/>
              </a:tabLst>
            </a:pPr>
            <a:r>
              <a:rPr lang="en-IN" sz="2350" spc="90" dirty="0">
                <a:solidFill>
                  <a:srgbClr val="F27E1C"/>
                </a:solidFill>
                <a:latin typeface="Arial"/>
                <a:cs typeface="Arial"/>
              </a:rPr>
              <a:t>�</a:t>
            </a:r>
            <a:r>
              <a:rPr lang="en-IN" sz="2350" b="1" spc="55" dirty="0">
                <a:solidFill>
                  <a:srgbClr val="0E1524"/>
                </a:solidFill>
                <a:latin typeface="Arial"/>
                <a:cs typeface="Arial"/>
              </a:rPr>
              <a:t>Syed Abdul Bari </a:t>
            </a:r>
          </a:p>
          <a:p>
            <a:pPr marR="2540" algn="ctr">
              <a:lnSpc>
                <a:spcPct val="100000"/>
              </a:lnSpc>
              <a:spcBef>
                <a:spcPts val="135"/>
              </a:spcBef>
              <a:tabLst>
                <a:tab pos="561975" algn="l"/>
              </a:tabLst>
            </a:pPr>
            <a:endParaRPr lang="en-IN" sz="2350" dirty="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  <a:tabLst>
                <a:tab pos="650875" algn="l"/>
              </a:tabLst>
            </a:pPr>
            <a:r>
              <a:rPr lang="en-IN" sz="2550" spc="-25" dirty="0">
                <a:solidFill>
                  <a:srgbClr val="F27E1C"/>
                </a:solidFill>
                <a:latin typeface="Arial"/>
                <a:cs typeface="Arial"/>
              </a:rPr>
              <a:t>    </a:t>
            </a:r>
            <a:r>
              <a:rPr sz="2550" spc="-25" dirty="0">
                <a:solidFill>
                  <a:srgbClr val="F27E1C"/>
                </a:solidFill>
                <a:latin typeface="Arial"/>
                <a:cs typeface="Arial"/>
              </a:rPr>
              <a:t>I</a:t>
            </a:r>
            <a:r>
              <a:rPr lang="en-IN" sz="2550" spc="-25" dirty="0">
                <a:solidFill>
                  <a:srgbClr val="F27E1C"/>
                </a:solidFill>
                <a:latin typeface="Arial"/>
                <a:cs typeface="Arial"/>
              </a:rPr>
              <a:t>I</a:t>
            </a:r>
            <a:r>
              <a:rPr lang="en-IN" sz="2550" dirty="0">
                <a:solidFill>
                  <a:srgbClr val="F27E1C"/>
                </a:solidFill>
                <a:latin typeface="Arial"/>
                <a:cs typeface="Arial"/>
              </a:rPr>
              <a:t>	  </a:t>
            </a:r>
            <a:r>
              <a:rPr lang="en-IN" sz="2350" b="1" spc="65" dirty="0">
                <a:solidFill>
                  <a:srgbClr val="0E1524"/>
                </a:solidFill>
                <a:latin typeface="Arial"/>
                <a:cs typeface="Arial"/>
                <a:hlinkClick r:id="rId9"/>
              </a:rPr>
              <a:t>bariabdul3333@gmail.com</a:t>
            </a:r>
            <a:endParaRPr lang="en-IN" sz="2350" dirty="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  <a:tabLst>
                <a:tab pos="650875" algn="l"/>
              </a:tabLst>
            </a:pPr>
            <a:endParaRPr lang="en-IN" sz="2350" b="1" spc="-785" dirty="0">
              <a:solidFill>
                <a:srgbClr val="F27E1C"/>
              </a:solidFill>
              <a:latin typeface="Arial"/>
              <a:cs typeface="Arial"/>
            </a:endParaRPr>
          </a:p>
          <a:p>
            <a:pPr marL="57150">
              <a:lnSpc>
                <a:spcPct val="100000"/>
              </a:lnSpc>
              <a:tabLst>
                <a:tab pos="650875" algn="l"/>
              </a:tabLst>
            </a:pPr>
            <a:r>
              <a:rPr lang="en-IN" sz="2350" b="1" dirty="0">
                <a:solidFill>
                  <a:srgbClr val="0E1524"/>
                </a:solidFill>
                <a:latin typeface="Arial"/>
                <a:cs typeface="Arial"/>
              </a:rPr>
              <a:t>    </a:t>
            </a:r>
            <a:r>
              <a:rPr lang="en-IN" sz="2400" spc="-25" dirty="0">
                <a:solidFill>
                  <a:srgbClr val="F27E1C"/>
                </a:solidFill>
                <a:latin typeface="Arial"/>
                <a:cs typeface="Arial"/>
              </a:rPr>
              <a:t>II</a:t>
            </a:r>
            <a:r>
              <a:rPr lang="en-IN" sz="2400" dirty="0">
                <a:solidFill>
                  <a:srgbClr val="F27E1C"/>
                </a:solidFill>
                <a:latin typeface="Arial"/>
                <a:cs typeface="Arial"/>
              </a:rPr>
              <a:t>	</a:t>
            </a:r>
            <a:r>
              <a:rPr lang="en-IN" sz="2350" b="1" dirty="0" err="1">
                <a:solidFill>
                  <a:srgbClr val="0E1524"/>
                </a:solidFill>
                <a:latin typeface="Arial"/>
                <a:cs typeface="Arial"/>
              </a:rPr>
              <a:t>Linkedln</a:t>
            </a:r>
            <a:r>
              <a:rPr lang="en-IN" sz="2350" b="1" dirty="0">
                <a:solidFill>
                  <a:srgbClr val="0E1524"/>
                </a:solidFill>
                <a:latin typeface="Arial"/>
                <a:cs typeface="Arial"/>
              </a:rPr>
              <a:t>:</a:t>
            </a:r>
            <a:r>
              <a:rPr lang="en-IN" sz="2350" b="1" spc="105" dirty="0">
                <a:solidFill>
                  <a:srgbClr val="0E1524"/>
                </a:solidFill>
                <a:latin typeface="Arial"/>
                <a:cs typeface="Arial"/>
              </a:rPr>
              <a:t> </a:t>
            </a:r>
            <a:r>
              <a:rPr lang="en-IN" sz="2350" b="1" spc="55" dirty="0">
                <a:solidFill>
                  <a:srgbClr val="0E1524"/>
                </a:solidFill>
                <a:latin typeface="Arial"/>
                <a:cs typeface="Arial"/>
                <a:hlinkClick r:id="rId10"/>
              </a:rPr>
              <a:t>Syed Abdul Bari</a:t>
            </a:r>
            <a:endParaRPr lang="en-IN" sz="23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934</Words>
  <Application>Microsoft Office PowerPoint</Application>
  <PresentationFormat>Custom</PresentationFormat>
  <Paragraphs>157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Times New Roman</vt:lpstr>
      <vt:lpstr>Office Theme</vt:lpstr>
      <vt:lpstr>•</vt:lpstr>
      <vt:lpstr>About Swi</vt:lpstr>
      <vt:lpstr>Business Context</vt:lpstr>
      <vt:lpstr>Data Model Overview</vt:lpstr>
      <vt:lpstr>PowerPoint Presentation</vt:lpstr>
      <vt:lpstr>Goal o the Pro·ect</vt:lpstr>
      <vt:lpstr>Understandin</vt:lpstr>
      <vt:lpstr>Deliver</vt:lpstr>
      <vt:lpstr>Revenue Trends</vt:lpstr>
      <vt:lpstr>•</vt:lpstr>
      <vt:lpstr>Cam Cl</vt:lpstr>
      <vt:lpstr>Cam Cl</vt:lpstr>
      <vt:lpstr>Focus Areas &amp; Re</vt:lpstr>
      <vt:lpstr>Strate</vt:lpstr>
      <vt:lpstr>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mr. _adbr._</dc:creator>
  <cp:lastModifiedBy>mr. _adbr._</cp:lastModifiedBy>
  <cp:revision>2</cp:revision>
  <dcterms:created xsi:type="dcterms:W3CDTF">2026-07-09T16:50:07Z</dcterms:created>
  <dcterms:modified xsi:type="dcterms:W3CDTF">2026-07-09T17:13:22Z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2026-07-09T00:00:00Z</vt:filetime>
  </property>
  <property fmtid="{D5CDD505-2E9C-101B-9397-08002B2CF9AE}" pid="3" name="LastSaved">
    <vt:filetime>2026-07-09T00:00:00Z</vt:filetime>
  </property>
</Properties>
</file>